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D89A-1844-16DC-03B3-3AF55DF82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1EBDA2-DAE0-FFED-2A8E-7F5538317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2549-669F-DFA2-EF8B-04CD34C1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B7362-5000-C408-8C94-8895ECD1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16F1E-AFB4-2225-7049-FFC8D305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744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BC18-C7FF-D647-7A8D-69568211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C79F-1567-CC3B-3ACA-83C63CB16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503B2-B02C-D87C-D9A1-F86C7DEC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CDBC0-476D-663F-2E15-79C7F614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61B80-7191-0550-F3FE-1BE95565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93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F736-FDAE-5B06-62D1-317B6B38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78E91-1A32-B42F-DCA5-55D90127E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9A76D-10B3-31DF-8041-404D3A4F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1728D-2C41-E26F-AC39-C4EDBE11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AF1A6-E28D-2D23-A7EA-E194D899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0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FD92-FE82-7931-3D58-8A5E49BA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DD15C-6CBB-AA82-3FBE-3587FF780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3BD55-20AA-8588-8674-454E26DD4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7D35A-0B55-54BC-2CE6-17EDB5732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58F74-A02A-7B81-0B38-0A9F412D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788DB-5F37-4CFF-B3C1-F716C09E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B6A0-671B-5146-2EBC-81F47BD6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5B7FE-77B5-C012-F79A-071B4A41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4F340-3A14-0128-7CB4-67ED0C06F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4097A-225C-B5B5-BEF9-EF908D2A3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0D7A3-449D-71CC-5371-F1EC59D2C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FC9C5B-5384-4A55-1353-A9E2613C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D8BE6-10AB-3A2E-E9A4-5F8942A1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FBF28-1F49-F5FF-E571-2F57E183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48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F4A3-4F1A-140A-959A-830D506B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46934-A579-82A7-D412-EBBBC760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0D779-091B-2B14-CAFC-FAC6E8A6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4170E-6D49-A575-9634-0D882F64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67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DA6BB-80B5-0803-16E9-B30973A3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62114-1821-F8AF-2044-96780C32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4302C-D22E-0134-8664-18829B87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7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D42C-EDEA-D59C-4D39-BB5511D0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2239-7200-E888-F7B9-14F9CF52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40C55-48D3-3B3D-9F67-83D46FA2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905B9-33A3-D966-34ED-6E5ED721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B087E-A82B-5135-3CC2-0DFB5F48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3CFB5-B693-BC29-39ED-33F5A68D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2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16E1-F52F-A551-0457-6E2EDBEE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26443-A6E4-440C-A5F9-42E1F840C8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65FC-EF9F-CA88-F8E1-BAEA1698A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16070-760B-85F7-CA2E-8A86D97D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841B1-9047-4407-ECC9-B0984784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CAD4D-36E3-459A-FA19-FBC01CAD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7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BA73-DBCC-E2C4-FB0B-7ADF008B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C3130-2946-5014-2C5B-B90681BA4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FA25E-1A32-CF64-AFEF-51443947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8E465-AABC-8B4F-5051-338229C6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CA034-F6A2-567E-D5B2-30361931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4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1645A-2A61-E6C6-FBC3-2C80FB45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EC0DE-6501-7867-E5BD-30ECA5AC8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76E77-17C5-1D3B-B57E-72B469D8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FB4F2-25CE-A1BD-4B6A-E22E9598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A46BF-17C6-5C8F-1715-9982AA90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30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AA69A-2E7A-28CF-CD10-8C2C8315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1DEC7-3B6E-A9FE-FF17-B13FE1C4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D116A-E07A-57E2-E2CD-3E24B9437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617B7-670E-4C12-8FE9-9151E36C2FCE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3CAE8-6002-9316-D878-4F945656D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2BDCF-7332-BC89-873D-51F27B8FB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865F8-A0C5-4706-9DDA-B1F8FBBA92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38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B2CA76-7B56-3726-A542-A2629D99EF0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D1269-CBFF-FA42-F363-16B29BCAC446}"/>
              </a:ext>
            </a:extLst>
          </p:cNvPr>
          <p:cNvSpPr txBox="1"/>
          <p:nvPr/>
        </p:nvSpPr>
        <p:spPr>
          <a:xfrm>
            <a:off x="762000" y="381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800" b="1">
                <a:solidFill>
                  <a:srgbClr val="FF9800"/>
                </a:solidFill>
                <a:latin typeface="Segoe UI" panose="020B0502040204020203" pitchFamily="34" charset="0"/>
              </a:rPr>
              <a:t>Elite DevOpsPro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8EE47A-72C3-7326-BADD-4E96D3ABA047}"/>
              </a:ext>
            </a:extLst>
          </p:cNvPr>
          <p:cNvSpPr/>
          <p:nvPr/>
        </p:nvSpPr>
        <p:spPr>
          <a:xfrm>
            <a:off x="4445000" y="914400"/>
            <a:ext cx="3302000" cy="25400"/>
          </a:xfrm>
          <a:prstGeom prst="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66E4F3-E731-FD94-02E2-7317C85D88D5}"/>
              </a:ext>
            </a:extLst>
          </p:cNvPr>
          <p:cNvSpPr/>
          <p:nvPr/>
        </p:nvSpPr>
        <p:spPr>
          <a:xfrm>
            <a:off x="4953000" y="1270000"/>
            <a:ext cx="2286000" cy="7620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LINUX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96244-A6C3-06AB-1CB7-082726F4C49F}"/>
              </a:ext>
            </a:extLst>
          </p:cNvPr>
          <p:cNvSpPr txBox="1"/>
          <p:nvPr/>
        </p:nvSpPr>
        <p:spPr>
          <a:xfrm>
            <a:off x="762000" y="2349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Linux Fundamentals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783378-AC19-FDB6-D915-65F1A527E508}"/>
              </a:ext>
            </a:extLst>
          </p:cNvPr>
          <p:cNvSpPr txBox="1"/>
          <p:nvPr/>
        </p:nvSpPr>
        <p:spPr>
          <a:xfrm>
            <a:off x="762000" y="34925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200">
                <a:solidFill>
                  <a:srgbClr val="FF9800"/>
                </a:solidFill>
                <a:latin typeface="Segoe UI" panose="020B0502040204020203" pitchFamily="34" charset="0"/>
              </a:rPr>
              <a:t>Master Linux Administration for DevOps and Cloud</a:t>
            </a:r>
            <a:endParaRPr lang="en-IN" sz="2200">
              <a:solidFill>
                <a:srgbClr val="FF980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EDA1E-8F05-1FEB-0CF2-B1DE71A3E546}"/>
              </a:ext>
            </a:extLst>
          </p:cNvPr>
          <p:cNvSpPr txBox="1"/>
          <p:nvPr/>
        </p:nvSpPr>
        <p:spPr>
          <a:xfrm>
            <a:off x="762000" y="431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>
                <a:solidFill>
                  <a:srgbClr val="96A0B4"/>
                </a:solidFill>
                <a:latin typeface="Segoe UI" panose="020B0502040204020203" pitchFamily="34" charset="0"/>
              </a:rPr>
              <a:t>From Zero to Production-Ready Server</a:t>
            </a:r>
            <a:endParaRPr lang="en-IN">
              <a:solidFill>
                <a:srgbClr val="96A0B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983F5D-C9BF-432A-9CBE-3C9BCAF47661}"/>
              </a:ext>
            </a:extLst>
          </p:cNvPr>
          <p:cNvSpPr/>
          <p:nvPr/>
        </p:nvSpPr>
        <p:spPr>
          <a:xfrm>
            <a:off x="2540000" y="5334000"/>
            <a:ext cx="7112000" cy="508000"/>
          </a:xfrm>
          <a:prstGeom prst="roundRect">
            <a:avLst/>
          </a:prstGeom>
          <a:solidFill>
            <a:srgbClr val="2832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B4BEC8"/>
                </a:solidFill>
                <a:latin typeface="Segoe UI" panose="020B0502040204020203" pitchFamily="34" charset="0"/>
              </a:rPr>
              <a:t>Netflix | Google | Amazon | Facebook - All run on Linux</a:t>
            </a:r>
            <a:endParaRPr lang="en-IN" sz="1200">
              <a:solidFill>
                <a:srgbClr val="B4BEC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D15616-F304-BC6B-0DA0-795F9A1ABAB9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9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CE72A-8D92-8E53-48C4-DF6D1CF3488C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600" b="1">
                <a:solidFill>
                  <a:srgbClr val="1E1E1E"/>
                </a:solidFill>
                <a:latin typeface="Segoe UI" panose="020B0502040204020203" pitchFamily="34" charset="0"/>
              </a:rPr>
              <a:t>Why Linux for DevOps?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B26BF-4E93-879C-92D5-1CD47CED2EB7}"/>
              </a:ext>
            </a:extLst>
          </p:cNvPr>
          <p:cNvSpPr/>
          <p:nvPr/>
        </p:nvSpPr>
        <p:spPr>
          <a:xfrm>
            <a:off x="508000" y="889000"/>
            <a:ext cx="2540000" cy="50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B95894-D3F9-E073-ED32-2225E9DE5C01}"/>
              </a:ext>
            </a:extLst>
          </p:cNvPr>
          <p:cNvSpPr/>
          <p:nvPr/>
        </p:nvSpPr>
        <p:spPr>
          <a:xfrm>
            <a:off x="762000" y="1270000"/>
            <a:ext cx="5080000" cy="10160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96% of servers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86AA1-B03B-0D6E-4C40-030E57BC06E5}"/>
              </a:ext>
            </a:extLst>
          </p:cNvPr>
          <p:cNvSpPr txBox="1"/>
          <p:nvPr/>
        </p:nvSpPr>
        <p:spPr>
          <a:xfrm>
            <a:off x="6096000" y="1397000"/>
            <a:ext cx="571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>
                <a:solidFill>
                  <a:srgbClr val="1E1E1E"/>
                </a:solidFill>
                <a:latin typeface="Segoe UI" panose="020B0502040204020203" pitchFamily="34" charset="0"/>
              </a:rPr>
              <a:t>run Linux worldwide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D25A5D-A2A3-72BD-61FC-6015D3A5B481}"/>
              </a:ext>
            </a:extLst>
          </p:cNvPr>
          <p:cNvSpPr/>
          <p:nvPr/>
        </p:nvSpPr>
        <p:spPr>
          <a:xfrm>
            <a:off x="762000" y="2476500"/>
            <a:ext cx="5080000" cy="1016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Open Source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AFF30-496D-8460-8436-98A4E44DD123}"/>
              </a:ext>
            </a:extLst>
          </p:cNvPr>
          <p:cNvSpPr txBox="1"/>
          <p:nvPr/>
        </p:nvSpPr>
        <p:spPr>
          <a:xfrm>
            <a:off x="6096000" y="2603500"/>
            <a:ext cx="571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>
                <a:solidFill>
                  <a:srgbClr val="1E1E1E"/>
                </a:solidFill>
                <a:latin typeface="Segoe UI" panose="020B0502040204020203" pitchFamily="34" charset="0"/>
              </a:rPr>
              <a:t>Free, customizable, community-driven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9829BE-C243-0275-EF7E-D1E5321FEDDB}"/>
              </a:ext>
            </a:extLst>
          </p:cNvPr>
          <p:cNvSpPr/>
          <p:nvPr/>
        </p:nvSpPr>
        <p:spPr>
          <a:xfrm>
            <a:off x="762000" y="3683000"/>
            <a:ext cx="5080000" cy="10160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Cloud Native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DBA896-B37F-4EAA-BA08-D7B0895F4ECA}"/>
              </a:ext>
            </a:extLst>
          </p:cNvPr>
          <p:cNvSpPr txBox="1"/>
          <p:nvPr/>
        </p:nvSpPr>
        <p:spPr>
          <a:xfrm>
            <a:off x="6096000" y="3810000"/>
            <a:ext cx="571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1E1E1E"/>
                </a:solidFill>
                <a:latin typeface="Segoe UI" panose="020B0502040204020203" pitchFamily="34" charset="0"/>
              </a:rPr>
              <a:t>AWS, Azure, GCP default to Linux</a:t>
            </a:r>
            <a:endParaRPr lang="en-IN" sz="16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BFBFDA-7426-094E-C1E8-000E3BB280DB}"/>
              </a:ext>
            </a:extLst>
          </p:cNvPr>
          <p:cNvSpPr/>
          <p:nvPr/>
        </p:nvSpPr>
        <p:spPr>
          <a:xfrm>
            <a:off x="762000" y="4889500"/>
            <a:ext cx="5080000" cy="10160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Automation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9AFA6E-0DAF-FA83-5B87-3C39E73EFDC8}"/>
              </a:ext>
            </a:extLst>
          </p:cNvPr>
          <p:cNvSpPr txBox="1"/>
          <p:nvPr/>
        </p:nvSpPr>
        <p:spPr>
          <a:xfrm>
            <a:off x="6096000" y="5016500"/>
            <a:ext cx="571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1E1E1E"/>
                </a:solidFill>
                <a:latin typeface="Segoe UI" panose="020B0502040204020203" pitchFamily="34" charset="0"/>
              </a:rPr>
              <a:t>Shell scripting powers CI/CD pipelines</a:t>
            </a:r>
            <a:endParaRPr lang="en-IN" sz="16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6B2FE7-BC16-D9B2-DA80-605BB5A001C5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35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A53A32-6DB0-EC35-2BD1-436FDD0BBBB8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Linux Architecture - The Building Analogy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BD521-F699-F30A-9246-D5F303F2D3C7}"/>
              </a:ext>
            </a:extLst>
          </p:cNvPr>
          <p:cNvSpPr/>
          <p:nvPr/>
        </p:nvSpPr>
        <p:spPr>
          <a:xfrm>
            <a:off x="508000" y="736600"/>
            <a:ext cx="3810000" cy="38100"/>
          </a:xfrm>
          <a:prstGeom prst="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681BDF-DAA1-0739-397D-6F914F18E24D}"/>
              </a:ext>
            </a:extLst>
          </p:cNvPr>
          <p:cNvSpPr/>
          <p:nvPr/>
        </p:nvSpPr>
        <p:spPr>
          <a:xfrm>
            <a:off x="635000" y="952500"/>
            <a:ext cx="3302000" cy="7366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Foundation = KERNEL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47935-02B4-239A-815B-2D8651241434}"/>
              </a:ext>
            </a:extLst>
          </p:cNvPr>
          <p:cNvSpPr txBox="1"/>
          <p:nvPr/>
        </p:nvSpPr>
        <p:spPr>
          <a:xfrm>
            <a:off x="4127500" y="10160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The invisible core. Nothing works without it.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E2A6F9-076D-7F62-91C0-71DE9A1F75B1}"/>
              </a:ext>
            </a:extLst>
          </p:cNvPr>
          <p:cNvSpPr/>
          <p:nvPr/>
        </p:nvSpPr>
        <p:spPr>
          <a:xfrm>
            <a:off x="635000" y="1778000"/>
            <a:ext cx="3302000" cy="7366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Reception = SHELL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3784F-DA73-0B7F-0EEA-8B38603F8AA7}"/>
              </a:ext>
            </a:extLst>
          </p:cNvPr>
          <p:cNvSpPr txBox="1"/>
          <p:nvPr/>
        </p:nvSpPr>
        <p:spPr>
          <a:xfrm>
            <a:off x="4127500" y="18415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You talk to the shell to get things done.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B61B76-4A05-D152-BF48-F67F3780B2F7}"/>
              </a:ext>
            </a:extLst>
          </p:cNvPr>
          <p:cNvSpPr/>
          <p:nvPr/>
        </p:nvSpPr>
        <p:spPr>
          <a:xfrm>
            <a:off x="635000" y="2603500"/>
            <a:ext cx="3302000" cy="7366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Rooms = FILE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89658-58C3-C28B-A26B-B0A9BA2CB88C}"/>
              </a:ext>
            </a:extLst>
          </p:cNvPr>
          <p:cNvSpPr txBox="1"/>
          <p:nvPr/>
        </p:nvSpPr>
        <p:spPr>
          <a:xfrm>
            <a:off x="4127500" y="26670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/home=offices /etc=admin /var/log=cameras /tmp=meeting room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0B3E1A-DEAD-99CF-CEAC-BD1C8A35F8B3}"/>
              </a:ext>
            </a:extLst>
          </p:cNvPr>
          <p:cNvSpPr/>
          <p:nvPr/>
        </p:nvSpPr>
        <p:spPr>
          <a:xfrm>
            <a:off x="635000" y="3429000"/>
            <a:ext cx="3302000" cy="7366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Key Cards = PERMISSIONS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9710F-7A49-31B7-57C0-112F918A38DF}"/>
              </a:ext>
            </a:extLst>
          </p:cNvPr>
          <p:cNvSpPr txBox="1"/>
          <p:nvPr/>
        </p:nvSpPr>
        <p:spPr>
          <a:xfrm>
            <a:off x="4127500" y="34925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Owner(rwx) Group(r-x) Others(---)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C46C8-8B04-3916-C732-B5E458965679}"/>
              </a:ext>
            </a:extLst>
          </p:cNvPr>
          <p:cNvSpPr/>
          <p:nvPr/>
        </p:nvSpPr>
        <p:spPr>
          <a:xfrm>
            <a:off x="635000" y="4254500"/>
            <a:ext cx="3302000" cy="7366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Employees = PROCESSES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B20FA-0A47-43D6-8755-3D311CA3FEF1}"/>
              </a:ext>
            </a:extLst>
          </p:cNvPr>
          <p:cNvSpPr txBox="1"/>
          <p:nvPr/>
        </p:nvSpPr>
        <p:spPr>
          <a:xfrm>
            <a:off x="4127500" y="43180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Each running program is an employee doing a task.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112160-9579-253F-5E84-F76063E237A5}"/>
              </a:ext>
            </a:extLst>
          </p:cNvPr>
          <p:cNvSpPr/>
          <p:nvPr/>
        </p:nvSpPr>
        <p:spPr>
          <a:xfrm>
            <a:off x="635000" y="5080000"/>
            <a:ext cx="3302000" cy="7366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Guard =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BBE254-E6AE-DAD7-DFDF-0C98C4922D23}"/>
              </a:ext>
            </a:extLst>
          </p:cNvPr>
          <p:cNvSpPr txBox="1"/>
          <p:nvPr/>
        </p:nvSpPr>
        <p:spPr>
          <a:xfrm>
            <a:off x="4127500" y="51435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Controls who enters (inbound) and leaves (outbound).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4358D0-798B-B4E8-4324-805ED6FDB687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9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70D6AF-0254-FFBF-5201-70933A934AEA}"/>
              </a:ext>
            </a:extLst>
          </p:cNvPr>
          <p:cNvSpPr txBox="1"/>
          <p:nvPr/>
        </p:nvSpPr>
        <p:spPr>
          <a:xfrm>
            <a:off x="508000" y="254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600" b="1">
                <a:solidFill>
                  <a:srgbClr val="1E1E1E"/>
                </a:solidFill>
                <a:latin typeface="Segoe UI" panose="020B0502040204020203" pitchFamily="34" charset="0"/>
              </a:rPr>
              <a:t>Linux Boot Process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3208CF-F930-00D9-5B21-A82D5DCB98B4}"/>
              </a:ext>
            </a:extLst>
          </p:cNvPr>
          <p:cNvSpPr/>
          <p:nvPr/>
        </p:nvSpPr>
        <p:spPr>
          <a:xfrm>
            <a:off x="508000" y="863600"/>
            <a:ext cx="2540000" cy="50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65EFD4-1002-48E8-5611-E8001CCEECDA}"/>
              </a:ext>
            </a:extLst>
          </p:cNvPr>
          <p:cNvSpPr/>
          <p:nvPr/>
        </p:nvSpPr>
        <p:spPr>
          <a:xfrm>
            <a:off x="381000" y="1397000"/>
            <a:ext cx="2159000" cy="12700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1. BIOS/UEFI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71880-FC77-B516-6DFD-87C8A0C4087B}"/>
              </a:ext>
            </a:extLst>
          </p:cNvPr>
          <p:cNvSpPr txBox="1"/>
          <p:nvPr/>
        </p:nvSpPr>
        <p:spPr>
          <a:xfrm>
            <a:off x="381000" y="2794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1E1E1E"/>
                </a:solidFill>
                <a:latin typeface="Segoe UI" panose="020B0502040204020203" pitchFamily="34" charset="0"/>
              </a:rPr>
              <a:t>Hardware check, finds boot device</a:t>
            </a:r>
            <a:endParaRPr lang="en-IN" sz="11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8CB8E-28BE-D71A-2F8F-E96C5839AE1F}"/>
              </a:ext>
            </a:extLst>
          </p:cNvPr>
          <p:cNvSpPr txBox="1"/>
          <p:nvPr/>
        </p:nvSpPr>
        <p:spPr>
          <a:xfrm>
            <a:off x="2603500" y="1714500"/>
            <a:ext cx="25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400" b="1">
                <a:solidFill>
                  <a:srgbClr val="1E1E1E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366C68-A523-0957-8991-18DACA157DE0}"/>
              </a:ext>
            </a:extLst>
          </p:cNvPr>
          <p:cNvSpPr/>
          <p:nvPr/>
        </p:nvSpPr>
        <p:spPr>
          <a:xfrm>
            <a:off x="2794000" y="1397000"/>
            <a:ext cx="2159000" cy="1270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2. GRUB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3313D-67A0-90C6-DAF9-086A51D18D36}"/>
              </a:ext>
            </a:extLst>
          </p:cNvPr>
          <p:cNvSpPr txBox="1"/>
          <p:nvPr/>
        </p:nvSpPr>
        <p:spPr>
          <a:xfrm>
            <a:off x="2794000" y="2794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1E1E1E"/>
                </a:solidFill>
                <a:latin typeface="Segoe UI" panose="020B0502040204020203" pitchFamily="34" charset="0"/>
              </a:rPr>
              <a:t>Bootloader - picks which kernel to load</a:t>
            </a:r>
            <a:endParaRPr lang="en-IN" sz="11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070CA0-71CC-21B9-9568-7AE8B01E4A0E}"/>
              </a:ext>
            </a:extLst>
          </p:cNvPr>
          <p:cNvSpPr txBox="1"/>
          <p:nvPr/>
        </p:nvSpPr>
        <p:spPr>
          <a:xfrm>
            <a:off x="5016500" y="1714500"/>
            <a:ext cx="25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400" b="1">
                <a:solidFill>
                  <a:srgbClr val="1E1E1E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AFF7D7-17B3-7FB1-E77E-47878A95F8DE}"/>
              </a:ext>
            </a:extLst>
          </p:cNvPr>
          <p:cNvSpPr/>
          <p:nvPr/>
        </p:nvSpPr>
        <p:spPr>
          <a:xfrm>
            <a:off x="5207000" y="1397000"/>
            <a:ext cx="2159000" cy="12700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3. Kernel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14A3E7-234A-B5B5-C00E-E617E4A5FCFA}"/>
              </a:ext>
            </a:extLst>
          </p:cNvPr>
          <p:cNvSpPr txBox="1"/>
          <p:nvPr/>
        </p:nvSpPr>
        <p:spPr>
          <a:xfrm>
            <a:off x="5207000" y="2794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1E1E1E"/>
                </a:solidFill>
                <a:latin typeface="Segoe UI" panose="020B0502040204020203" pitchFamily="34" charset="0"/>
              </a:rPr>
              <a:t>Loads into memory, initializes drivers</a:t>
            </a:r>
            <a:endParaRPr lang="en-IN" sz="11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50025-AC53-7EB5-D6C6-B7530A34DB9A}"/>
              </a:ext>
            </a:extLst>
          </p:cNvPr>
          <p:cNvSpPr txBox="1"/>
          <p:nvPr/>
        </p:nvSpPr>
        <p:spPr>
          <a:xfrm>
            <a:off x="7429500" y="1714500"/>
            <a:ext cx="25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400" b="1">
                <a:solidFill>
                  <a:srgbClr val="1E1E1E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815133-3DAD-9BC5-3160-883583F70DCD}"/>
              </a:ext>
            </a:extLst>
          </p:cNvPr>
          <p:cNvSpPr/>
          <p:nvPr/>
        </p:nvSpPr>
        <p:spPr>
          <a:xfrm>
            <a:off x="7620000" y="1397000"/>
            <a:ext cx="2159000" cy="12700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4. systemd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36372D-7839-FA4F-8410-AC334BC80C60}"/>
              </a:ext>
            </a:extLst>
          </p:cNvPr>
          <p:cNvSpPr txBox="1"/>
          <p:nvPr/>
        </p:nvSpPr>
        <p:spPr>
          <a:xfrm>
            <a:off x="7620000" y="2794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1E1E1E"/>
                </a:solidFill>
                <a:latin typeface="Segoe UI" panose="020B0502040204020203" pitchFamily="34" charset="0"/>
              </a:rPr>
              <a:t>First process - starts all services</a:t>
            </a:r>
            <a:endParaRPr lang="en-IN" sz="11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2642B-F3CA-8D29-EE01-7818231A28EC}"/>
              </a:ext>
            </a:extLst>
          </p:cNvPr>
          <p:cNvSpPr txBox="1"/>
          <p:nvPr/>
        </p:nvSpPr>
        <p:spPr>
          <a:xfrm>
            <a:off x="9842500" y="1714500"/>
            <a:ext cx="25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2400" b="1">
                <a:solidFill>
                  <a:srgbClr val="1E1E1E"/>
                </a:solidFill>
                <a:latin typeface="Segoe UI" panose="020B0502040204020203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14108E-10FD-23FA-6E09-FFF3A5828D3A}"/>
              </a:ext>
            </a:extLst>
          </p:cNvPr>
          <p:cNvSpPr/>
          <p:nvPr/>
        </p:nvSpPr>
        <p:spPr>
          <a:xfrm>
            <a:off x="10033000" y="1397000"/>
            <a:ext cx="2159000" cy="12700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5. Login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BDFAB8-AC95-55C1-5E99-74304EB2EAC8}"/>
              </a:ext>
            </a:extLst>
          </p:cNvPr>
          <p:cNvSpPr txBox="1"/>
          <p:nvPr/>
        </p:nvSpPr>
        <p:spPr>
          <a:xfrm>
            <a:off x="10033000" y="2794000"/>
            <a:ext cx="215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100">
                <a:solidFill>
                  <a:srgbClr val="1E1E1E"/>
                </a:solidFill>
                <a:latin typeface="Segoe UI" panose="020B0502040204020203" pitchFamily="34" charset="0"/>
              </a:rPr>
              <a:t>System ready! SSH or console login</a:t>
            </a:r>
            <a:endParaRPr lang="en-IN" sz="11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282164-2F4F-BE76-A93F-90B1767A20B0}"/>
              </a:ext>
            </a:extLst>
          </p:cNvPr>
          <p:cNvSpPr txBox="1"/>
          <p:nvPr/>
        </p:nvSpPr>
        <p:spPr>
          <a:xfrm>
            <a:off x="508000" y="39370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2000" b="1">
                <a:solidFill>
                  <a:srgbClr val="1E1E1E"/>
                </a:solidFill>
                <a:latin typeface="Segoe UI" panose="020B0502040204020203" pitchFamily="34" charset="0"/>
              </a:rPr>
              <a:t>Runlevels vs systemd Targets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DBB024-A2EB-5F39-84E8-A9CA040FA1BE}"/>
              </a:ext>
            </a:extLst>
          </p:cNvPr>
          <p:cNvSpPr/>
          <p:nvPr/>
        </p:nvSpPr>
        <p:spPr>
          <a:xfrm>
            <a:off x="762000" y="4445000"/>
            <a:ext cx="10668000" cy="5715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>
                <a:solidFill>
                  <a:srgbClr val="FFFFFF"/>
                </a:solidFill>
                <a:latin typeface="Segoe UI" panose="020B0502040204020203" pitchFamily="34" charset="0"/>
              </a:rPr>
              <a:t>0=poweroff | 1=rescue | 3=multi-user | 5=graphical | 6=reboot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73505-EC35-3FED-E602-297094123D10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4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C6061-9179-F91F-6BD9-85758D1DF971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File System Hierarchy (FHS)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1BEEF3-6B0E-9510-D986-7B5A3B3881C6}"/>
              </a:ext>
            </a:extLst>
          </p:cNvPr>
          <p:cNvSpPr/>
          <p:nvPr/>
        </p:nvSpPr>
        <p:spPr>
          <a:xfrm>
            <a:off x="381000" y="889000"/>
            <a:ext cx="1524000" cy="6985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EF504-842A-6661-D66C-4A3BF8146C14}"/>
              </a:ext>
            </a:extLst>
          </p:cNvPr>
          <p:cNvSpPr txBox="1"/>
          <p:nvPr/>
        </p:nvSpPr>
        <p:spPr>
          <a:xfrm>
            <a:off x="2032000" y="990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Root of everything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F2ED58-9A8A-4686-0F59-9B0D9CC562EF}"/>
              </a:ext>
            </a:extLst>
          </p:cNvPr>
          <p:cNvSpPr/>
          <p:nvPr/>
        </p:nvSpPr>
        <p:spPr>
          <a:xfrm>
            <a:off x="6477000" y="889000"/>
            <a:ext cx="1524000" cy="6985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/home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047C6-47F4-5A59-531A-CA0C2EB1EFA6}"/>
              </a:ext>
            </a:extLst>
          </p:cNvPr>
          <p:cNvSpPr txBox="1"/>
          <p:nvPr/>
        </p:nvSpPr>
        <p:spPr>
          <a:xfrm>
            <a:off x="8128000" y="990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User home directories (personal offices)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D572F4-5004-D2CE-452A-2452DFDD00D0}"/>
              </a:ext>
            </a:extLst>
          </p:cNvPr>
          <p:cNvSpPr/>
          <p:nvPr/>
        </p:nvSpPr>
        <p:spPr>
          <a:xfrm>
            <a:off x="381000" y="1841500"/>
            <a:ext cx="1524000" cy="698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/etc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A8E8F-778A-2551-9225-95F967447996}"/>
              </a:ext>
            </a:extLst>
          </p:cNvPr>
          <p:cNvSpPr txBox="1"/>
          <p:nvPr/>
        </p:nvSpPr>
        <p:spPr>
          <a:xfrm>
            <a:off x="2032000" y="19431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Configuration files (admin office)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EBAABA-BA04-57CC-017B-2AD12DBBD71B}"/>
              </a:ext>
            </a:extLst>
          </p:cNvPr>
          <p:cNvSpPr/>
          <p:nvPr/>
        </p:nvSpPr>
        <p:spPr>
          <a:xfrm>
            <a:off x="6477000" y="1841500"/>
            <a:ext cx="1524000" cy="6985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/var/log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084AB-7165-5AEA-5646-524133AFA92B}"/>
              </a:ext>
            </a:extLst>
          </p:cNvPr>
          <p:cNvSpPr txBox="1"/>
          <p:nvPr/>
        </p:nvSpPr>
        <p:spPr>
          <a:xfrm>
            <a:off x="8128000" y="19431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System logs (security cameras)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A91614-3467-1A4B-6BA5-164132BAC031}"/>
              </a:ext>
            </a:extLst>
          </p:cNvPr>
          <p:cNvSpPr/>
          <p:nvPr/>
        </p:nvSpPr>
        <p:spPr>
          <a:xfrm>
            <a:off x="381000" y="2794000"/>
            <a:ext cx="1524000" cy="6985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/tmp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310DC-FFFB-F60F-F405-425FEE0BFC98}"/>
              </a:ext>
            </a:extLst>
          </p:cNvPr>
          <p:cNvSpPr txBox="1"/>
          <p:nvPr/>
        </p:nvSpPr>
        <p:spPr>
          <a:xfrm>
            <a:off x="2032000" y="2895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Temporary files (cleaned on reboot)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EDCBA5-C25D-3892-1749-E328EE9A4CF4}"/>
              </a:ext>
            </a:extLst>
          </p:cNvPr>
          <p:cNvSpPr/>
          <p:nvPr/>
        </p:nvSpPr>
        <p:spPr>
          <a:xfrm>
            <a:off x="6477000" y="2794000"/>
            <a:ext cx="1524000" cy="6985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/opt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15C4F-6F0B-1CA5-8252-12BC14B936AC}"/>
              </a:ext>
            </a:extLst>
          </p:cNvPr>
          <p:cNvSpPr txBox="1"/>
          <p:nvPr/>
        </p:nvSpPr>
        <p:spPr>
          <a:xfrm>
            <a:off x="8128000" y="2895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Optional/third-party software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5EB8F4-2058-745B-8A89-BFA6F7E6D928}"/>
              </a:ext>
            </a:extLst>
          </p:cNvPr>
          <p:cNvSpPr/>
          <p:nvPr/>
        </p:nvSpPr>
        <p:spPr>
          <a:xfrm>
            <a:off x="381000" y="3746500"/>
            <a:ext cx="1524000" cy="6985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/bin /sbin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0CCC87-4616-4C40-1298-126E0E3F01B4}"/>
              </a:ext>
            </a:extLst>
          </p:cNvPr>
          <p:cNvSpPr txBox="1"/>
          <p:nvPr/>
        </p:nvSpPr>
        <p:spPr>
          <a:xfrm>
            <a:off x="2032000" y="38481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Essential commands and system binaries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3B992A-3D35-5DE9-19BD-C532DEBAEC93}"/>
              </a:ext>
            </a:extLst>
          </p:cNvPr>
          <p:cNvSpPr/>
          <p:nvPr/>
        </p:nvSpPr>
        <p:spPr>
          <a:xfrm>
            <a:off x="6477000" y="3746500"/>
            <a:ext cx="1524000" cy="698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/usr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C6FEA1-721A-DF5C-B3BB-7BB6094F083D}"/>
              </a:ext>
            </a:extLst>
          </p:cNvPr>
          <p:cNvSpPr txBox="1"/>
          <p:nvPr/>
        </p:nvSpPr>
        <p:spPr>
          <a:xfrm>
            <a:off x="8128000" y="38481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User programs and libraries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BADCC80-31B1-82FC-FB49-EE6755A73FC1}"/>
              </a:ext>
            </a:extLst>
          </p:cNvPr>
          <p:cNvSpPr/>
          <p:nvPr/>
        </p:nvSpPr>
        <p:spPr>
          <a:xfrm>
            <a:off x="381000" y="4699000"/>
            <a:ext cx="1524000" cy="6985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/dev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2A1734-21B3-7277-A456-04DCA14355C9}"/>
              </a:ext>
            </a:extLst>
          </p:cNvPr>
          <p:cNvSpPr txBox="1"/>
          <p:nvPr/>
        </p:nvSpPr>
        <p:spPr>
          <a:xfrm>
            <a:off x="2032000" y="4800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Device files (hardware access)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1B2CC60-46C5-1683-540F-F7E1950A7326}"/>
              </a:ext>
            </a:extLst>
          </p:cNvPr>
          <p:cNvSpPr/>
          <p:nvPr/>
        </p:nvSpPr>
        <p:spPr>
          <a:xfrm>
            <a:off x="6477000" y="4699000"/>
            <a:ext cx="1524000" cy="6985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/proc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CDC427-21AC-6BAB-48E1-24BC09A67923}"/>
              </a:ext>
            </a:extLst>
          </p:cNvPr>
          <p:cNvSpPr txBox="1"/>
          <p:nvPr/>
        </p:nvSpPr>
        <p:spPr>
          <a:xfrm>
            <a:off x="8128000" y="4800600"/>
            <a:ext cx="406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Virtual filesystem - process info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7EE504-8434-8084-CA3F-21E6B7D8FDF9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7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140D40-37D2-AF7F-508E-8E4B4DD730DD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200" b="1">
                <a:solidFill>
                  <a:srgbClr val="1E1E1E"/>
                </a:solidFill>
                <a:latin typeface="Segoe UI" panose="020B0502040204020203" pitchFamily="34" charset="0"/>
              </a:rPr>
              <a:t>Essential Commands: File and Directory</a:t>
            </a:r>
            <a:endParaRPr lang="en-IN" sz="3200" b="1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66470-8D43-6C1F-8D07-B3716C1A068A}"/>
              </a:ext>
            </a:extLst>
          </p:cNvPr>
          <p:cNvSpPr/>
          <p:nvPr/>
        </p:nvSpPr>
        <p:spPr>
          <a:xfrm>
            <a:off x="508000" y="736600"/>
            <a:ext cx="3175000" cy="508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3300BE-1A8B-5E16-488C-817CB627451D}"/>
              </a:ext>
            </a:extLst>
          </p:cNvPr>
          <p:cNvSpPr/>
          <p:nvPr/>
        </p:nvSpPr>
        <p:spPr>
          <a:xfrm>
            <a:off x="508000" y="914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ls -la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BEBBF-62F2-4290-79AD-BFF8BECF4AE6}"/>
              </a:ext>
            </a:extLst>
          </p:cNvPr>
          <p:cNvSpPr txBox="1"/>
          <p:nvPr/>
        </p:nvSpPr>
        <p:spPr>
          <a:xfrm>
            <a:off x="3492500" y="939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List all files with details (including hidden)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66697E-8C31-92EA-5F10-1AF70508081A}"/>
              </a:ext>
            </a:extLst>
          </p:cNvPr>
          <p:cNvSpPr/>
          <p:nvPr/>
        </p:nvSpPr>
        <p:spPr>
          <a:xfrm>
            <a:off x="508000" y="1422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cd /path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D7185-7198-53FB-301F-EE9E6B82ED7D}"/>
              </a:ext>
            </a:extLst>
          </p:cNvPr>
          <p:cNvSpPr txBox="1"/>
          <p:nvPr/>
        </p:nvSpPr>
        <p:spPr>
          <a:xfrm>
            <a:off x="3492500" y="1447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Change directory - move into a folder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9C261F-A755-50F9-C132-6BAE9A505D1B}"/>
              </a:ext>
            </a:extLst>
          </p:cNvPr>
          <p:cNvSpPr/>
          <p:nvPr/>
        </p:nvSpPr>
        <p:spPr>
          <a:xfrm>
            <a:off x="508000" y="1930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pwd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41AC8-4439-4730-2C5E-A3F67E7C4673}"/>
              </a:ext>
            </a:extLst>
          </p:cNvPr>
          <p:cNvSpPr txBox="1"/>
          <p:nvPr/>
        </p:nvSpPr>
        <p:spPr>
          <a:xfrm>
            <a:off x="3492500" y="1955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Print working directory - where am I?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19AFC9-ABAD-51E6-A2F1-8C4B703E3121}"/>
              </a:ext>
            </a:extLst>
          </p:cNvPr>
          <p:cNvSpPr/>
          <p:nvPr/>
        </p:nvSpPr>
        <p:spPr>
          <a:xfrm>
            <a:off x="508000" y="2438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cp -r src/ dest/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4FD9C-BE21-A8A5-2B67-C8DB4A384182}"/>
              </a:ext>
            </a:extLst>
          </p:cNvPr>
          <p:cNvSpPr txBox="1"/>
          <p:nvPr/>
        </p:nvSpPr>
        <p:spPr>
          <a:xfrm>
            <a:off x="3492500" y="2463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Copy files/folders recursively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5B92DD-EEFB-FC8B-149A-6AD46A89D4F7}"/>
              </a:ext>
            </a:extLst>
          </p:cNvPr>
          <p:cNvSpPr/>
          <p:nvPr/>
        </p:nvSpPr>
        <p:spPr>
          <a:xfrm>
            <a:off x="508000" y="2946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mv old new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292B4-A1A5-615C-7C30-1B43B0C7153B}"/>
              </a:ext>
            </a:extLst>
          </p:cNvPr>
          <p:cNvSpPr txBox="1"/>
          <p:nvPr/>
        </p:nvSpPr>
        <p:spPr>
          <a:xfrm>
            <a:off x="3492500" y="2971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Move or rename files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E62899-B90B-4014-68DF-A4EAB7887ED4}"/>
              </a:ext>
            </a:extLst>
          </p:cNvPr>
          <p:cNvSpPr/>
          <p:nvPr/>
        </p:nvSpPr>
        <p:spPr>
          <a:xfrm>
            <a:off x="508000" y="3454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rm -rf folder/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1F991C-0D05-5815-73C2-D9673706E2FD}"/>
              </a:ext>
            </a:extLst>
          </p:cNvPr>
          <p:cNvSpPr txBox="1"/>
          <p:nvPr/>
        </p:nvSpPr>
        <p:spPr>
          <a:xfrm>
            <a:off x="3492500" y="3479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Delete folder permanently (careful!)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A6827F-8BA0-4A10-62CB-45B2FF319B17}"/>
              </a:ext>
            </a:extLst>
          </p:cNvPr>
          <p:cNvSpPr/>
          <p:nvPr/>
        </p:nvSpPr>
        <p:spPr>
          <a:xfrm>
            <a:off x="508000" y="3962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pt-BR" sz="1200" b="1">
                <a:solidFill>
                  <a:srgbClr val="4CAF50"/>
                </a:solidFill>
                <a:latin typeface="Segoe UI" panose="020B0502040204020203" pitchFamily="34" charset="0"/>
              </a:rPr>
              <a:t>mkdir -p a/b/c</a:t>
            </a:r>
            <a:endParaRPr lang="en-IN" sz="1200" b="1">
              <a:solidFill>
                <a:srgbClr val="4CAF50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27439-A7C9-2F23-40AB-26C3779083C5}"/>
              </a:ext>
            </a:extLst>
          </p:cNvPr>
          <p:cNvSpPr txBox="1"/>
          <p:nvPr/>
        </p:nvSpPr>
        <p:spPr>
          <a:xfrm>
            <a:off x="3492500" y="3987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Create nested directories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CE5230-9B41-6F13-147D-EDCD6FF6223C}"/>
              </a:ext>
            </a:extLst>
          </p:cNvPr>
          <p:cNvSpPr/>
          <p:nvPr/>
        </p:nvSpPr>
        <p:spPr>
          <a:xfrm>
            <a:off x="508000" y="4470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find / -name *.log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04793-24D3-4AE8-C177-3DD2E4A7E612}"/>
              </a:ext>
            </a:extLst>
          </p:cNvPr>
          <p:cNvSpPr txBox="1"/>
          <p:nvPr/>
        </p:nvSpPr>
        <p:spPr>
          <a:xfrm>
            <a:off x="3492500" y="4495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Search entire system for .log files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057FDC-2BA2-65E1-DD4D-279FCD67B7A2}"/>
              </a:ext>
            </a:extLst>
          </p:cNvPr>
          <p:cNvSpPr/>
          <p:nvPr/>
        </p:nvSpPr>
        <p:spPr>
          <a:xfrm>
            <a:off x="508000" y="4978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touch file.txt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645A9-6DBA-87D9-4A19-5DF2BFAB05CB}"/>
              </a:ext>
            </a:extLst>
          </p:cNvPr>
          <p:cNvSpPr txBox="1"/>
          <p:nvPr/>
        </p:nvSpPr>
        <p:spPr>
          <a:xfrm>
            <a:off x="3492500" y="5003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Create empty file or update timestamp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85A23-BF10-177D-2202-8703BA7EAD64}"/>
              </a:ext>
            </a:extLst>
          </p:cNvPr>
          <p:cNvSpPr/>
          <p:nvPr/>
        </p:nvSpPr>
        <p:spPr>
          <a:xfrm>
            <a:off x="508000" y="5486400"/>
            <a:ext cx="2794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ln -s target link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15062E-716E-65CA-9C5C-3395A95D2094}"/>
              </a:ext>
            </a:extLst>
          </p:cNvPr>
          <p:cNvSpPr txBox="1"/>
          <p:nvPr/>
        </p:nvSpPr>
        <p:spPr>
          <a:xfrm>
            <a:off x="3492500" y="5511800"/>
            <a:ext cx="8382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Create symbolic (soft) link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8D5C7E-2FC8-FFCE-B429-03479EAD0AC4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1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D5096-04FB-CC81-59DB-157CE77F4F6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Segoe UI" panose="020B0502040204020203" pitchFamily="34" charset="0"/>
              </a:rPr>
              <a:t>Permissions - The Key Card System</a:t>
            </a:r>
            <a:endParaRPr lang="en-IN" sz="3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0AC1C-C846-AAC4-E56D-74464E0E2EC2}"/>
              </a:ext>
            </a:extLst>
          </p:cNvPr>
          <p:cNvSpPr txBox="1"/>
          <p:nvPr/>
        </p:nvSpPr>
        <p:spPr>
          <a:xfrm>
            <a:off x="635000" y="889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b="1">
                <a:solidFill>
                  <a:srgbClr val="FF9800"/>
                </a:solidFill>
                <a:latin typeface="Segoe UI" panose="020B0502040204020203" pitchFamily="34" charset="0"/>
              </a:rPr>
              <a:t>Every file has: Owner (u) | Group (g) | Others (o)</a:t>
            </a:r>
            <a:endParaRPr lang="en-IN" b="1">
              <a:solidFill>
                <a:srgbClr val="FF980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0ABB47-A96C-C426-2E92-D5FAE01B0E5C}"/>
              </a:ext>
            </a:extLst>
          </p:cNvPr>
          <p:cNvSpPr/>
          <p:nvPr/>
        </p:nvSpPr>
        <p:spPr>
          <a:xfrm>
            <a:off x="762000" y="1524000"/>
            <a:ext cx="3175000" cy="571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r (read) =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A13AD-A35B-3BAF-2294-8B82B5969A1D}"/>
              </a:ext>
            </a:extLst>
          </p:cNvPr>
          <p:cNvSpPr txBox="1"/>
          <p:nvPr/>
        </p:nvSpPr>
        <p:spPr>
          <a:xfrm>
            <a:off x="4191000" y="1587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C8D2DC"/>
                </a:solidFill>
                <a:latin typeface="Segoe UI" panose="020B0502040204020203" pitchFamily="34" charset="0"/>
              </a:rPr>
              <a:t>View file contents / list directory</a:t>
            </a:r>
            <a:endParaRPr lang="en-IN" sz="14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A7C6C7-7195-B071-A033-365F40BCA6E5}"/>
              </a:ext>
            </a:extLst>
          </p:cNvPr>
          <p:cNvSpPr/>
          <p:nvPr/>
        </p:nvSpPr>
        <p:spPr>
          <a:xfrm>
            <a:off x="762000" y="2222500"/>
            <a:ext cx="3175000" cy="5715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w (write) =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90258-9EFB-DABB-D565-5F6F03EE9746}"/>
              </a:ext>
            </a:extLst>
          </p:cNvPr>
          <p:cNvSpPr txBox="1"/>
          <p:nvPr/>
        </p:nvSpPr>
        <p:spPr>
          <a:xfrm>
            <a:off x="4191000" y="2286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C8D2DC"/>
                </a:solidFill>
                <a:latin typeface="Segoe UI" panose="020B0502040204020203" pitchFamily="34" charset="0"/>
              </a:rPr>
              <a:t>Edit file / add-remove in directory</a:t>
            </a:r>
            <a:endParaRPr lang="en-IN" sz="14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B817E5-8831-366A-D24A-AA71230A250C}"/>
              </a:ext>
            </a:extLst>
          </p:cNvPr>
          <p:cNvSpPr/>
          <p:nvPr/>
        </p:nvSpPr>
        <p:spPr>
          <a:xfrm>
            <a:off x="762000" y="2921000"/>
            <a:ext cx="3175000" cy="5715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600" b="1">
                <a:solidFill>
                  <a:srgbClr val="FFFFFF"/>
                </a:solidFill>
                <a:latin typeface="Segoe UI" panose="020B0502040204020203" pitchFamily="34" charset="0"/>
              </a:rPr>
              <a:t>x (execute)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E715A-8779-804F-3AB4-CA0D491EA777}"/>
              </a:ext>
            </a:extLst>
          </p:cNvPr>
          <p:cNvSpPr txBox="1"/>
          <p:nvPr/>
        </p:nvSpPr>
        <p:spPr>
          <a:xfrm>
            <a:off x="4191000" y="29845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400">
                <a:solidFill>
                  <a:srgbClr val="C8D2DC"/>
                </a:solidFill>
                <a:latin typeface="Segoe UI" panose="020B0502040204020203" pitchFamily="34" charset="0"/>
              </a:rPr>
              <a:t>Run as program / enter 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3C27E-1643-5904-8249-B0ECCB6A1F29}"/>
              </a:ext>
            </a:extLst>
          </p:cNvPr>
          <p:cNvSpPr txBox="1"/>
          <p:nvPr/>
        </p:nvSpPr>
        <p:spPr>
          <a:xfrm>
            <a:off x="635000" y="38100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FFEB3B"/>
                </a:solidFill>
                <a:latin typeface="Segoe UI" panose="020B0502040204020203" pitchFamily="34" charset="0"/>
              </a:rPr>
              <a:t>Common Permission Examples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33D269-334B-00AE-175B-542C9FF75120}"/>
              </a:ext>
            </a:extLst>
          </p:cNvPr>
          <p:cNvSpPr/>
          <p:nvPr/>
        </p:nvSpPr>
        <p:spPr>
          <a:xfrm>
            <a:off x="635000" y="4292600"/>
            <a:ext cx="2921000" cy="406400"/>
          </a:xfrm>
          <a:prstGeom prst="roundRect">
            <a:avLst/>
          </a:prstGeom>
          <a:solidFill>
            <a:srgbClr val="3F51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chmod 755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D22B4-B17D-DAD0-521F-1D34D83644A4}"/>
              </a:ext>
            </a:extLst>
          </p:cNvPr>
          <p:cNvSpPr txBox="1"/>
          <p:nvPr/>
        </p:nvSpPr>
        <p:spPr>
          <a:xfrm>
            <a:off x="3746500" y="43180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Owner: rwx, Group: r-x, Others: r-x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96FF67-08F2-AF7E-9969-86C9B41CF09B}"/>
              </a:ext>
            </a:extLst>
          </p:cNvPr>
          <p:cNvSpPr/>
          <p:nvPr/>
        </p:nvSpPr>
        <p:spPr>
          <a:xfrm>
            <a:off x="635000" y="4775200"/>
            <a:ext cx="2921000" cy="406400"/>
          </a:xfrm>
          <a:prstGeom prst="roundRect">
            <a:avLst/>
          </a:prstGeom>
          <a:solidFill>
            <a:srgbClr val="3F51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chmod 644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958E4-613E-46D0-F4CC-73021C03D5E0}"/>
              </a:ext>
            </a:extLst>
          </p:cNvPr>
          <p:cNvSpPr txBox="1"/>
          <p:nvPr/>
        </p:nvSpPr>
        <p:spPr>
          <a:xfrm>
            <a:off x="3746500" y="48006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Owner: rw-, Group: r--, Others: r--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A98077-7F67-1A2A-EB55-CA36BBC304DF}"/>
              </a:ext>
            </a:extLst>
          </p:cNvPr>
          <p:cNvSpPr/>
          <p:nvPr/>
        </p:nvSpPr>
        <p:spPr>
          <a:xfrm>
            <a:off x="635000" y="5257800"/>
            <a:ext cx="2921000" cy="406400"/>
          </a:xfrm>
          <a:prstGeom prst="roundRect">
            <a:avLst/>
          </a:prstGeom>
          <a:solidFill>
            <a:srgbClr val="3F51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chown user:group 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3457B1-81E0-9C70-575B-77DA5E297299}"/>
              </a:ext>
            </a:extLst>
          </p:cNvPr>
          <p:cNvSpPr txBox="1"/>
          <p:nvPr/>
        </p:nvSpPr>
        <p:spPr>
          <a:xfrm>
            <a:off x="3746500" y="52832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Change who owns the file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9464AB0-562E-DEBF-FB6B-637F77ADFFE8}"/>
              </a:ext>
            </a:extLst>
          </p:cNvPr>
          <p:cNvSpPr/>
          <p:nvPr/>
        </p:nvSpPr>
        <p:spPr>
          <a:xfrm>
            <a:off x="635000" y="5740400"/>
            <a:ext cx="2921000" cy="406400"/>
          </a:xfrm>
          <a:prstGeom prst="roundRect">
            <a:avLst/>
          </a:prstGeom>
          <a:solidFill>
            <a:srgbClr val="3F51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Segoe UI" panose="020B0502040204020203" pitchFamily="34" charset="0"/>
              </a:rPr>
              <a:t>umask 022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3B4D9A-2D7D-1566-FE9C-F1478D65F9CE}"/>
              </a:ext>
            </a:extLst>
          </p:cNvPr>
          <p:cNvSpPr txBox="1"/>
          <p:nvPr/>
        </p:nvSpPr>
        <p:spPr>
          <a:xfrm>
            <a:off x="3746500" y="57658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Segoe UI" panose="020B0502040204020203" pitchFamily="34" charset="0"/>
              </a:rPr>
              <a:t>Default permissions for new files</a:t>
            </a:r>
            <a:endParaRPr lang="en-IN" sz="12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D933FF-2EE9-B6A3-BA78-A1C7154B9404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68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C4C6B4-E3FD-17E7-883D-24C2B3AAA50F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1E1E1E"/>
                </a:solidFill>
                <a:latin typeface="Segoe UI" panose="020B0502040204020203" pitchFamily="34" charset="0"/>
              </a:rPr>
              <a:t>Text Processing Commands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F9D71-CCA6-7EF5-B891-FF4583DE4F8A}"/>
              </a:ext>
            </a:extLst>
          </p:cNvPr>
          <p:cNvSpPr/>
          <p:nvPr/>
        </p:nvSpPr>
        <p:spPr>
          <a:xfrm>
            <a:off x="508000" y="736600"/>
            <a:ext cx="3175000" cy="50800"/>
          </a:xfrm>
          <a:prstGeom prst="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E2C308-6988-BB26-1AEB-D5EAC0B2996E}"/>
              </a:ext>
            </a:extLst>
          </p:cNvPr>
          <p:cNvSpPr/>
          <p:nvPr/>
        </p:nvSpPr>
        <p:spPr>
          <a:xfrm>
            <a:off x="508000" y="914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cat file.txt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A3907F-B32A-BC24-ED87-D0ED29555AF5}"/>
              </a:ext>
            </a:extLst>
          </p:cNvPr>
          <p:cNvSpPr txBox="1"/>
          <p:nvPr/>
        </p:nvSpPr>
        <p:spPr>
          <a:xfrm>
            <a:off x="4000500" y="939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Display entire file contents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AFEF30-503D-BA85-4D10-AB23CD2EBF15}"/>
              </a:ext>
            </a:extLst>
          </p:cNvPr>
          <p:cNvSpPr/>
          <p:nvPr/>
        </p:nvSpPr>
        <p:spPr>
          <a:xfrm>
            <a:off x="508000" y="1422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less file.txt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1436B-8495-958B-5A27-39F924B7B736}"/>
              </a:ext>
            </a:extLst>
          </p:cNvPr>
          <p:cNvSpPr txBox="1"/>
          <p:nvPr/>
        </p:nvSpPr>
        <p:spPr>
          <a:xfrm>
            <a:off x="4000500" y="1447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View file page by page (scrollable)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9D460D-842F-FF07-5798-8D3382F1ACB3}"/>
              </a:ext>
            </a:extLst>
          </p:cNvPr>
          <p:cNvSpPr/>
          <p:nvPr/>
        </p:nvSpPr>
        <p:spPr>
          <a:xfrm>
            <a:off x="508000" y="1930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head -20 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1FDC5-31DB-DBB3-1F34-AAF01447B7C8}"/>
              </a:ext>
            </a:extLst>
          </p:cNvPr>
          <p:cNvSpPr txBox="1"/>
          <p:nvPr/>
        </p:nvSpPr>
        <p:spPr>
          <a:xfrm>
            <a:off x="4000500" y="1955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Show first 20 lines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1A6973-3C7B-6F09-867E-40C581ACD877}"/>
              </a:ext>
            </a:extLst>
          </p:cNvPr>
          <p:cNvSpPr/>
          <p:nvPr/>
        </p:nvSpPr>
        <p:spPr>
          <a:xfrm>
            <a:off x="508000" y="2438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da-DK" sz="1200" b="1">
                <a:solidFill>
                  <a:srgbClr val="4CAF50"/>
                </a:solidFill>
                <a:latin typeface="Segoe UI" panose="020B0502040204020203" pitchFamily="34" charset="0"/>
              </a:rPr>
              <a:t>tail -f /var/log/syslog</a:t>
            </a:r>
            <a:endParaRPr lang="en-IN" sz="1200" b="1">
              <a:solidFill>
                <a:srgbClr val="4CAF5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E7E496-87E6-C82C-7649-1C87DAB04A93}"/>
              </a:ext>
            </a:extLst>
          </p:cNvPr>
          <p:cNvSpPr txBox="1"/>
          <p:nvPr/>
        </p:nvSpPr>
        <p:spPr>
          <a:xfrm>
            <a:off x="4000500" y="2463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Follow log in real-time (live updates!)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BE63BB-B0C0-215D-8035-BE9772F0F904}"/>
              </a:ext>
            </a:extLst>
          </p:cNvPr>
          <p:cNvSpPr/>
          <p:nvPr/>
        </p:nvSpPr>
        <p:spPr>
          <a:xfrm>
            <a:off x="508000" y="2946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grep error log.txt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79BA0-ACC1-699E-5EAB-1F7D67BA8A0D}"/>
              </a:ext>
            </a:extLst>
          </p:cNvPr>
          <p:cNvSpPr txBox="1"/>
          <p:nvPr/>
        </p:nvSpPr>
        <p:spPr>
          <a:xfrm>
            <a:off x="4000500" y="2971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Search for text pattern in file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88D111-AA06-CFC8-AE72-76C45CC5362E}"/>
              </a:ext>
            </a:extLst>
          </p:cNvPr>
          <p:cNvSpPr/>
          <p:nvPr/>
        </p:nvSpPr>
        <p:spPr>
          <a:xfrm>
            <a:off x="508000" y="3454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grep -r TODO /src/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12B8A3-B5FF-849D-21BD-BDA24A112ED1}"/>
              </a:ext>
            </a:extLst>
          </p:cNvPr>
          <p:cNvSpPr txBox="1"/>
          <p:nvPr/>
        </p:nvSpPr>
        <p:spPr>
          <a:xfrm>
            <a:off x="4000500" y="3479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Search recursively in all files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4CF0C8-B359-6E77-4660-6EC722172CAF}"/>
              </a:ext>
            </a:extLst>
          </p:cNvPr>
          <p:cNvSpPr/>
          <p:nvPr/>
        </p:nvSpPr>
        <p:spPr>
          <a:xfrm>
            <a:off x="508000" y="3962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awk print column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B16987-D20A-1A34-854A-DB491A7B1C3D}"/>
              </a:ext>
            </a:extLst>
          </p:cNvPr>
          <p:cNvSpPr txBox="1"/>
          <p:nvPr/>
        </p:nvSpPr>
        <p:spPr>
          <a:xfrm>
            <a:off x="4000500" y="3987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Extract specific columns from file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A84A6E-E443-5CB2-6487-9EFBDDC5C001}"/>
              </a:ext>
            </a:extLst>
          </p:cNvPr>
          <p:cNvSpPr/>
          <p:nvPr/>
        </p:nvSpPr>
        <p:spPr>
          <a:xfrm>
            <a:off x="508000" y="4470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 b="1">
                <a:solidFill>
                  <a:srgbClr val="4CAF50"/>
                </a:solidFill>
                <a:latin typeface="Segoe UI" panose="020B0502040204020203" pitchFamily="34" charset="0"/>
              </a:rPr>
              <a:t>sed s/old/new/g file</a:t>
            </a:r>
            <a:endParaRPr lang="en-IN" sz="1200" b="1">
              <a:solidFill>
                <a:srgbClr val="4CAF50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BF04FA-409F-9B3A-D694-B29FE8D60559}"/>
              </a:ext>
            </a:extLst>
          </p:cNvPr>
          <p:cNvSpPr txBox="1"/>
          <p:nvPr/>
        </p:nvSpPr>
        <p:spPr>
          <a:xfrm>
            <a:off x="4000500" y="4495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Find and replace text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47D9A5-E67C-438A-6AA9-D9DD338EB878}"/>
              </a:ext>
            </a:extLst>
          </p:cNvPr>
          <p:cNvSpPr/>
          <p:nvPr/>
        </p:nvSpPr>
        <p:spPr>
          <a:xfrm>
            <a:off x="508000" y="4978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sort | uniq -c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51FEE7-A2AF-B8A4-AF7D-2A21B8771C0A}"/>
              </a:ext>
            </a:extLst>
          </p:cNvPr>
          <p:cNvSpPr txBox="1"/>
          <p:nvPr/>
        </p:nvSpPr>
        <p:spPr>
          <a:xfrm>
            <a:off x="4000500" y="5003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Sort and count unique lines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9A3F5B-508E-5E9E-099B-0CFFC6ABBB91}"/>
              </a:ext>
            </a:extLst>
          </p:cNvPr>
          <p:cNvSpPr/>
          <p:nvPr/>
        </p:nvSpPr>
        <p:spPr>
          <a:xfrm>
            <a:off x="508000" y="5486400"/>
            <a:ext cx="3302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wc -l file.txt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94F073-373C-A03D-0F73-0DD8E9A9371D}"/>
              </a:ext>
            </a:extLst>
          </p:cNvPr>
          <p:cNvSpPr txBox="1"/>
          <p:nvPr/>
        </p:nvSpPr>
        <p:spPr>
          <a:xfrm>
            <a:off x="4000500" y="5511800"/>
            <a:ext cx="787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Count number of lines in file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578E27-BC9A-90C1-3BB9-90C026152D9C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9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42178C-D8E4-D0B6-660B-294FEDE70E3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Process Management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106CF7-6708-56A7-060B-A76E45155136}"/>
              </a:ext>
            </a:extLst>
          </p:cNvPr>
          <p:cNvSpPr/>
          <p:nvPr/>
        </p:nvSpPr>
        <p:spPr>
          <a:xfrm>
            <a:off x="508000" y="889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ps aux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601D58-1D3F-913F-7C32-1C7152BB18E2}"/>
              </a:ext>
            </a:extLst>
          </p:cNvPr>
          <p:cNvSpPr txBox="1"/>
          <p:nvPr/>
        </p:nvSpPr>
        <p:spPr>
          <a:xfrm>
            <a:off x="4127500" y="914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List ALL running processes with details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A383E2-C4EC-D3B3-1101-B165316C9616}"/>
              </a:ext>
            </a:extLst>
          </p:cNvPr>
          <p:cNvSpPr/>
          <p:nvPr/>
        </p:nvSpPr>
        <p:spPr>
          <a:xfrm>
            <a:off x="508000" y="1397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top / htop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0E526-EE8D-6DDA-DD35-F0D14FC24190}"/>
              </a:ext>
            </a:extLst>
          </p:cNvPr>
          <p:cNvSpPr txBox="1"/>
          <p:nvPr/>
        </p:nvSpPr>
        <p:spPr>
          <a:xfrm>
            <a:off x="4127500" y="1422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Real-time process monitor (Task Manager)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2FFA09-F4D7-695A-91E3-11200ADC19B7}"/>
              </a:ext>
            </a:extLst>
          </p:cNvPr>
          <p:cNvSpPr/>
          <p:nvPr/>
        </p:nvSpPr>
        <p:spPr>
          <a:xfrm>
            <a:off x="508000" y="1905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kill PID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E2B03-ECD1-18D0-7871-A3977EAA080B}"/>
              </a:ext>
            </a:extLst>
          </p:cNvPr>
          <p:cNvSpPr txBox="1"/>
          <p:nvPr/>
        </p:nvSpPr>
        <p:spPr>
          <a:xfrm>
            <a:off x="4127500" y="1930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Stop a process gracefully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BC61A5-A06A-8512-2257-0E219EC0044D}"/>
              </a:ext>
            </a:extLst>
          </p:cNvPr>
          <p:cNvSpPr/>
          <p:nvPr/>
        </p:nvSpPr>
        <p:spPr>
          <a:xfrm>
            <a:off x="508000" y="2413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kill -9 PID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6AF53-AA21-51AF-904E-3D51A37A925C}"/>
              </a:ext>
            </a:extLst>
          </p:cNvPr>
          <p:cNvSpPr txBox="1"/>
          <p:nvPr/>
        </p:nvSpPr>
        <p:spPr>
          <a:xfrm>
            <a:off x="4127500" y="2438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Force kill a stuck process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F3B136-0346-8C4F-5E49-25FEB8DAB41C}"/>
              </a:ext>
            </a:extLst>
          </p:cNvPr>
          <p:cNvSpPr/>
          <p:nvPr/>
        </p:nvSpPr>
        <p:spPr>
          <a:xfrm>
            <a:off x="508000" y="2921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systemctl start nginx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B8F4D-C941-004C-B760-0D7F55C898DF}"/>
              </a:ext>
            </a:extLst>
          </p:cNvPr>
          <p:cNvSpPr txBox="1"/>
          <p:nvPr/>
        </p:nvSpPr>
        <p:spPr>
          <a:xfrm>
            <a:off x="4127500" y="2946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Start a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08953-EAF9-C195-A57D-F2E1DAA10581}"/>
              </a:ext>
            </a:extLst>
          </p:cNvPr>
          <p:cNvSpPr/>
          <p:nvPr/>
        </p:nvSpPr>
        <p:spPr>
          <a:xfrm>
            <a:off x="508000" y="3429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systemctl enable nginx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AD2773-FB46-633A-537E-76497826AA7A}"/>
              </a:ext>
            </a:extLst>
          </p:cNvPr>
          <p:cNvSpPr txBox="1"/>
          <p:nvPr/>
        </p:nvSpPr>
        <p:spPr>
          <a:xfrm>
            <a:off x="4127500" y="3454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Auto-start service on boot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70BC27-A09B-21B3-65B4-19C14E1F2B1B}"/>
              </a:ext>
            </a:extLst>
          </p:cNvPr>
          <p:cNvSpPr/>
          <p:nvPr/>
        </p:nvSpPr>
        <p:spPr>
          <a:xfrm>
            <a:off x="508000" y="3937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systemctl status nginx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485C99-5B81-FA96-DB28-A43BB8A96EA6}"/>
              </a:ext>
            </a:extLst>
          </p:cNvPr>
          <p:cNvSpPr txBox="1"/>
          <p:nvPr/>
        </p:nvSpPr>
        <p:spPr>
          <a:xfrm>
            <a:off x="4127500" y="3962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Check if service is running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609577-EBFA-547A-0E51-F100AD355751}"/>
              </a:ext>
            </a:extLst>
          </p:cNvPr>
          <p:cNvSpPr/>
          <p:nvPr/>
        </p:nvSpPr>
        <p:spPr>
          <a:xfrm>
            <a:off x="508000" y="4445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journalctl -u nginx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9A82B4-B0AA-FA44-CBF5-8A398217A7E8}"/>
              </a:ext>
            </a:extLst>
          </p:cNvPr>
          <p:cNvSpPr txBox="1"/>
          <p:nvPr/>
        </p:nvSpPr>
        <p:spPr>
          <a:xfrm>
            <a:off x="4127500" y="4470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View service logs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F031D4-68F2-6BC6-D3BF-2916BB2F8529}"/>
              </a:ext>
            </a:extLst>
          </p:cNvPr>
          <p:cNvSpPr/>
          <p:nvPr/>
        </p:nvSpPr>
        <p:spPr>
          <a:xfrm>
            <a:off x="508000" y="4953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nohup cmd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ED7D17-8A8A-1EAA-ABF2-F8DA28CED1CD}"/>
              </a:ext>
            </a:extLst>
          </p:cNvPr>
          <p:cNvSpPr txBox="1"/>
          <p:nvPr/>
        </p:nvSpPr>
        <p:spPr>
          <a:xfrm>
            <a:off x="4127500" y="4978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Run command that survives logout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889509-0066-639A-BF58-24E7B61F4909}"/>
              </a:ext>
            </a:extLst>
          </p:cNvPr>
          <p:cNvSpPr/>
          <p:nvPr/>
        </p:nvSpPr>
        <p:spPr>
          <a:xfrm>
            <a:off x="508000" y="5461000"/>
            <a:ext cx="3429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bg / fg / jobs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56026-4ADB-FE58-B75C-C9EEBD4A5AE6}"/>
              </a:ext>
            </a:extLst>
          </p:cNvPr>
          <p:cNvSpPr txBox="1"/>
          <p:nvPr/>
        </p:nvSpPr>
        <p:spPr>
          <a:xfrm>
            <a:off x="4127500" y="54864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Manage background/foreground jobs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21BC39-3385-EEAC-3409-45006837B199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89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86C95-D54E-8C01-31DA-56922BD9D143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1E1E1E"/>
                </a:solidFill>
                <a:latin typeface="Segoe UI" panose="020B0502040204020203" pitchFamily="34" charset="0"/>
              </a:rPr>
              <a:t>Networking Commands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AF34B-8D74-D644-EA44-555C147547F2}"/>
              </a:ext>
            </a:extLst>
          </p:cNvPr>
          <p:cNvSpPr/>
          <p:nvPr/>
        </p:nvSpPr>
        <p:spPr>
          <a:xfrm>
            <a:off x="508000" y="736600"/>
            <a:ext cx="2540000" cy="508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8828B2-56A9-DF0E-E798-AF0E18595CDB}"/>
              </a:ext>
            </a:extLst>
          </p:cNvPr>
          <p:cNvSpPr/>
          <p:nvPr/>
        </p:nvSpPr>
        <p:spPr>
          <a:xfrm>
            <a:off x="508000" y="914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ip addr show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06250-8755-ECD9-09FA-672B3C198F91}"/>
              </a:ext>
            </a:extLst>
          </p:cNvPr>
          <p:cNvSpPr txBox="1"/>
          <p:nvPr/>
        </p:nvSpPr>
        <p:spPr>
          <a:xfrm>
            <a:off x="4254500" y="939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IP addresses of all interfaces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610783-623C-5E0A-52B5-96DC1DE7AC65}"/>
              </a:ext>
            </a:extLst>
          </p:cNvPr>
          <p:cNvSpPr/>
          <p:nvPr/>
        </p:nvSpPr>
        <p:spPr>
          <a:xfrm>
            <a:off x="508000" y="1422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ss -tulnp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0899C-EF80-FEAE-C773-72FF4C8C388A}"/>
              </a:ext>
            </a:extLst>
          </p:cNvPr>
          <p:cNvSpPr txBox="1"/>
          <p:nvPr/>
        </p:nvSpPr>
        <p:spPr>
          <a:xfrm>
            <a:off x="4254500" y="1447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listening ports and processes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6B05A9-B6BE-E054-EF0B-809BBCD53AAD}"/>
              </a:ext>
            </a:extLst>
          </p:cNvPr>
          <p:cNvSpPr/>
          <p:nvPr/>
        </p:nvSpPr>
        <p:spPr>
          <a:xfrm>
            <a:off x="508000" y="1930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curl http://example.com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0FB67-163E-AE5D-94CA-209F1A2F7FD7}"/>
              </a:ext>
            </a:extLst>
          </p:cNvPr>
          <p:cNvSpPr txBox="1"/>
          <p:nvPr/>
        </p:nvSpPr>
        <p:spPr>
          <a:xfrm>
            <a:off x="4254500" y="1955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Make HTTP request (test APIs)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1D52BD-03F9-59DC-F618-414ED5EA12ED}"/>
              </a:ext>
            </a:extLst>
          </p:cNvPr>
          <p:cNvSpPr/>
          <p:nvPr/>
        </p:nvSpPr>
        <p:spPr>
          <a:xfrm>
            <a:off x="508000" y="2438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wget URL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5AF36-99AD-3F37-F22F-7CAB4ACED07D}"/>
              </a:ext>
            </a:extLst>
          </p:cNvPr>
          <p:cNvSpPr txBox="1"/>
          <p:nvPr/>
        </p:nvSpPr>
        <p:spPr>
          <a:xfrm>
            <a:off x="4254500" y="2463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Download a file from the internet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137CD9-2098-80D2-30DB-5E1605DD12F7}"/>
              </a:ext>
            </a:extLst>
          </p:cNvPr>
          <p:cNvSpPr/>
          <p:nvPr/>
        </p:nvSpPr>
        <p:spPr>
          <a:xfrm>
            <a:off x="508000" y="2946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ping host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AEA334-AC06-6690-3E6A-A57E717476B6}"/>
              </a:ext>
            </a:extLst>
          </p:cNvPr>
          <p:cNvSpPr txBox="1"/>
          <p:nvPr/>
        </p:nvSpPr>
        <p:spPr>
          <a:xfrm>
            <a:off x="4254500" y="2971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Check if a server is reachable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F5E884-A4F6-9D3A-232F-5CD9B6EFC928}"/>
              </a:ext>
            </a:extLst>
          </p:cNvPr>
          <p:cNvSpPr/>
          <p:nvPr/>
        </p:nvSpPr>
        <p:spPr>
          <a:xfrm>
            <a:off x="508000" y="3454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traceroute host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4BEF3C-2BBC-E5E6-082F-E14FC707D414}"/>
              </a:ext>
            </a:extLst>
          </p:cNvPr>
          <p:cNvSpPr txBox="1"/>
          <p:nvPr/>
        </p:nvSpPr>
        <p:spPr>
          <a:xfrm>
            <a:off x="4254500" y="3479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network path to destination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6210B6-9C0E-F830-AB6E-FBF5C7535678}"/>
              </a:ext>
            </a:extLst>
          </p:cNvPr>
          <p:cNvSpPr/>
          <p:nvPr/>
        </p:nvSpPr>
        <p:spPr>
          <a:xfrm>
            <a:off x="508000" y="3962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dig domain.com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5F965B-859B-68F3-DC8C-3DC41D7F1D58}"/>
              </a:ext>
            </a:extLst>
          </p:cNvPr>
          <p:cNvSpPr txBox="1"/>
          <p:nvPr/>
        </p:nvSpPr>
        <p:spPr>
          <a:xfrm>
            <a:off x="4254500" y="3987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DNS lookup - resolve domain to IP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3F1B31-D855-98DA-79FD-7340BF405073}"/>
              </a:ext>
            </a:extLst>
          </p:cNvPr>
          <p:cNvSpPr/>
          <p:nvPr/>
        </p:nvSpPr>
        <p:spPr>
          <a:xfrm>
            <a:off x="508000" y="4470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nn-NO" sz="1200" b="1">
                <a:solidFill>
                  <a:srgbClr val="4CAF50"/>
                </a:solidFill>
                <a:latin typeface="Segoe UI" panose="020B0502040204020203" pitchFamily="34" charset="0"/>
              </a:rPr>
              <a:t>scp file user@host:/path</a:t>
            </a:r>
            <a:endParaRPr lang="en-IN" sz="1200" b="1">
              <a:solidFill>
                <a:srgbClr val="4CAF50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522727-F921-5135-B27E-FAC865FB049A}"/>
              </a:ext>
            </a:extLst>
          </p:cNvPr>
          <p:cNvSpPr txBox="1"/>
          <p:nvPr/>
        </p:nvSpPr>
        <p:spPr>
          <a:xfrm>
            <a:off x="4254500" y="4495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Copy file to remote server securely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CCE8CD-BDDB-3E95-6B2F-B4EC53B5581E}"/>
              </a:ext>
            </a:extLst>
          </p:cNvPr>
          <p:cNvSpPr/>
          <p:nvPr/>
        </p:nvSpPr>
        <p:spPr>
          <a:xfrm>
            <a:off x="508000" y="4978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rsync -avz src/ dest/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5D5E68-0878-01A8-9553-40BB5790F6FD}"/>
              </a:ext>
            </a:extLst>
          </p:cNvPr>
          <p:cNvSpPr txBox="1"/>
          <p:nvPr/>
        </p:nvSpPr>
        <p:spPr>
          <a:xfrm>
            <a:off x="4254500" y="5003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Sync files efficiently (only changes)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8B2E57-E3C3-E31D-0076-E5CA8474ED3D}"/>
              </a:ext>
            </a:extLst>
          </p:cNvPr>
          <p:cNvSpPr/>
          <p:nvPr/>
        </p:nvSpPr>
        <p:spPr>
          <a:xfrm>
            <a:off x="508000" y="5486400"/>
            <a:ext cx="3556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tcpdump -i eth0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47623-57CB-4916-EBFA-F745AB855045}"/>
              </a:ext>
            </a:extLst>
          </p:cNvPr>
          <p:cNvSpPr txBox="1"/>
          <p:nvPr/>
        </p:nvSpPr>
        <p:spPr>
          <a:xfrm>
            <a:off x="4254500" y="5511800"/>
            <a:ext cx="7620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Capture network packets (debugging)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B01D03-E810-905F-D25F-810D40A02563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61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54F24-9F8A-BBEA-6C00-92D5808AC857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User and Group Management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B2670B-AB31-32A4-702E-F22CB86A93A9}"/>
              </a:ext>
            </a:extLst>
          </p:cNvPr>
          <p:cNvSpPr/>
          <p:nvPr/>
        </p:nvSpPr>
        <p:spPr>
          <a:xfrm>
            <a:off x="508000" y="889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useradd -m john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A38A4-4942-6C37-8213-63E81AE33B8C}"/>
              </a:ext>
            </a:extLst>
          </p:cNvPr>
          <p:cNvSpPr txBox="1"/>
          <p:nvPr/>
        </p:nvSpPr>
        <p:spPr>
          <a:xfrm>
            <a:off x="4381500" y="914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Create user with home directory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CF31BB-BC65-07AB-CF72-34F664CC6AB7}"/>
              </a:ext>
            </a:extLst>
          </p:cNvPr>
          <p:cNvSpPr/>
          <p:nvPr/>
        </p:nvSpPr>
        <p:spPr>
          <a:xfrm>
            <a:off x="508000" y="1397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passwd john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2C7D4-ED15-4013-E5A8-23AFD565CAA7}"/>
              </a:ext>
            </a:extLst>
          </p:cNvPr>
          <p:cNvSpPr txBox="1"/>
          <p:nvPr/>
        </p:nvSpPr>
        <p:spPr>
          <a:xfrm>
            <a:off x="4381500" y="1422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Set or change password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57C827-AE36-77D5-E981-5B97B5F50913}"/>
              </a:ext>
            </a:extLst>
          </p:cNvPr>
          <p:cNvSpPr/>
          <p:nvPr/>
        </p:nvSpPr>
        <p:spPr>
          <a:xfrm>
            <a:off x="508000" y="1905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usermod -aG sudo john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DBFE9A-C8D8-9570-E471-FC26034897F1}"/>
              </a:ext>
            </a:extLst>
          </p:cNvPr>
          <p:cNvSpPr txBox="1"/>
          <p:nvPr/>
        </p:nvSpPr>
        <p:spPr>
          <a:xfrm>
            <a:off x="4381500" y="1930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Add user to sudo group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FC4CAC-9F34-43AE-01EE-59B2714F94BA}"/>
              </a:ext>
            </a:extLst>
          </p:cNvPr>
          <p:cNvSpPr/>
          <p:nvPr/>
        </p:nvSpPr>
        <p:spPr>
          <a:xfrm>
            <a:off x="508000" y="2413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userdel -r john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AFCE96-E6F0-29E6-8E2A-5AB3CACAE7A8}"/>
              </a:ext>
            </a:extLst>
          </p:cNvPr>
          <p:cNvSpPr txBox="1"/>
          <p:nvPr/>
        </p:nvSpPr>
        <p:spPr>
          <a:xfrm>
            <a:off x="4381500" y="2438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Delete user and home directory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83777B-D1F2-D462-3CB8-E2F2CDBF6C45}"/>
              </a:ext>
            </a:extLst>
          </p:cNvPr>
          <p:cNvSpPr/>
          <p:nvPr/>
        </p:nvSpPr>
        <p:spPr>
          <a:xfrm>
            <a:off x="508000" y="2921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groupadd devops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3F053-B4A8-6D5B-CC1F-2F7BCC70D56E}"/>
              </a:ext>
            </a:extLst>
          </p:cNvPr>
          <p:cNvSpPr txBox="1"/>
          <p:nvPr/>
        </p:nvSpPr>
        <p:spPr>
          <a:xfrm>
            <a:off x="4381500" y="2946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Create a new group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630707-71A0-27BC-7F81-5E56B5E155D3}"/>
              </a:ext>
            </a:extLst>
          </p:cNvPr>
          <p:cNvSpPr/>
          <p:nvPr/>
        </p:nvSpPr>
        <p:spPr>
          <a:xfrm>
            <a:off x="508000" y="3429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id john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467D5-43AD-71CD-B90F-BC65ECAA8EF2}"/>
              </a:ext>
            </a:extLst>
          </p:cNvPr>
          <p:cNvSpPr txBox="1"/>
          <p:nvPr/>
        </p:nvSpPr>
        <p:spPr>
          <a:xfrm>
            <a:off x="4381500" y="3454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Show user UID, GID, and groups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CB95DD-B532-2286-A67A-F7469389BC05}"/>
              </a:ext>
            </a:extLst>
          </p:cNvPr>
          <p:cNvSpPr/>
          <p:nvPr/>
        </p:nvSpPr>
        <p:spPr>
          <a:xfrm>
            <a:off x="508000" y="3937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who / 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964E80-6B0B-F9C0-25E0-886C6F693D06}"/>
              </a:ext>
            </a:extLst>
          </p:cNvPr>
          <p:cNvSpPr txBox="1"/>
          <p:nvPr/>
        </p:nvSpPr>
        <p:spPr>
          <a:xfrm>
            <a:off x="4381500" y="3962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See who is currently logged in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3D8238-4720-3FCC-4C2A-B45009C98D8F}"/>
              </a:ext>
            </a:extLst>
          </p:cNvPr>
          <p:cNvSpPr/>
          <p:nvPr/>
        </p:nvSpPr>
        <p:spPr>
          <a:xfrm>
            <a:off x="508000" y="4445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sudo command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FDA71-61DC-8C9B-3ACB-1A92906454AC}"/>
              </a:ext>
            </a:extLst>
          </p:cNvPr>
          <p:cNvSpPr txBox="1"/>
          <p:nvPr/>
        </p:nvSpPr>
        <p:spPr>
          <a:xfrm>
            <a:off x="4381500" y="4470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Run command as root (superuser)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3C1898E-F9D5-1DAA-3223-6AE9A91A6C91}"/>
              </a:ext>
            </a:extLst>
          </p:cNvPr>
          <p:cNvSpPr/>
          <p:nvPr/>
        </p:nvSpPr>
        <p:spPr>
          <a:xfrm>
            <a:off x="508000" y="4953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visudo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10CAA9-C55E-F373-B627-792CBF740E7A}"/>
              </a:ext>
            </a:extLst>
          </p:cNvPr>
          <p:cNvSpPr txBox="1"/>
          <p:nvPr/>
        </p:nvSpPr>
        <p:spPr>
          <a:xfrm>
            <a:off x="4381500" y="4978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Safely edit sudoers file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E8AFF6-115F-CDEC-98D3-4C29BE17B8E5}"/>
              </a:ext>
            </a:extLst>
          </p:cNvPr>
          <p:cNvSpPr/>
          <p:nvPr/>
        </p:nvSpPr>
        <p:spPr>
          <a:xfrm>
            <a:off x="508000" y="5461000"/>
            <a:ext cx="3683000" cy="4318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/etc/passwd /etc/shadow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2AAF57-2E64-51D6-7FAA-B09EAD3EA1A1}"/>
              </a:ext>
            </a:extLst>
          </p:cNvPr>
          <p:cNvSpPr txBox="1"/>
          <p:nvPr/>
        </p:nvSpPr>
        <p:spPr>
          <a:xfrm>
            <a:off x="4381500" y="5486400"/>
            <a:ext cx="749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User info vs encrypted passwords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DB1F4F-4D1B-4BCE-E336-B120F6963CF2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8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F705D7-08A5-DD3B-1D84-8CF4FA66E433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1E1E1E"/>
                </a:solidFill>
                <a:latin typeface="Segoe UI" panose="020B0502040204020203" pitchFamily="34" charset="0"/>
              </a:rPr>
              <a:t>Disk and Storage Commands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2FFF31-08E4-E86D-262B-BF5DF49F6F2F}"/>
              </a:ext>
            </a:extLst>
          </p:cNvPr>
          <p:cNvSpPr/>
          <p:nvPr/>
        </p:nvSpPr>
        <p:spPr>
          <a:xfrm>
            <a:off x="508000" y="736600"/>
            <a:ext cx="2540000" cy="50800"/>
          </a:xfrm>
          <a:prstGeom prst="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F4FE06-D34B-81F6-93EA-B7ED3122E63E}"/>
              </a:ext>
            </a:extLst>
          </p:cNvPr>
          <p:cNvSpPr/>
          <p:nvPr/>
        </p:nvSpPr>
        <p:spPr>
          <a:xfrm>
            <a:off x="508000" y="914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df -h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794CF-5FC6-EAC5-83F5-112D8C2572F1}"/>
              </a:ext>
            </a:extLst>
          </p:cNvPr>
          <p:cNvSpPr txBox="1"/>
          <p:nvPr/>
        </p:nvSpPr>
        <p:spPr>
          <a:xfrm>
            <a:off x="4127500" y="939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disk space usage (human-readable)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A77E7B-B7F0-3F21-295B-056F3C414608}"/>
              </a:ext>
            </a:extLst>
          </p:cNvPr>
          <p:cNvSpPr/>
          <p:nvPr/>
        </p:nvSpPr>
        <p:spPr>
          <a:xfrm>
            <a:off x="508000" y="1422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du -sh /var/log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49ADD-5667-6D78-66BB-345780B8F5B4}"/>
              </a:ext>
            </a:extLst>
          </p:cNvPr>
          <p:cNvSpPr txBox="1"/>
          <p:nvPr/>
        </p:nvSpPr>
        <p:spPr>
          <a:xfrm>
            <a:off x="4127500" y="1447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size of a specific directory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D720DC-1CAD-1966-AFAB-6F4B5F7319E5}"/>
              </a:ext>
            </a:extLst>
          </p:cNvPr>
          <p:cNvSpPr/>
          <p:nvPr/>
        </p:nvSpPr>
        <p:spPr>
          <a:xfrm>
            <a:off x="508000" y="1930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lsblk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32AA5-6F53-F9DD-2380-C5491F534F12}"/>
              </a:ext>
            </a:extLst>
          </p:cNvPr>
          <p:cNvSpPr txBox="1"/>
          <p:nvPr/>
        </p:nvSpPr>
        <p:spPr>
          <a:xfrm>
            <a:off x="4127500" y="1955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List all block devices and partitions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8E2E30-0D46-4E1C-26B3-E05C992BA4AA}"/>
              </a:ext>
            </a:extLst>
          </p:cNvPr>
          <p:cNvSpPr/>
          <p:nvPr/>
        </p:nvSpPr>
        <p:spPr>
          <a:xfrm>
            <a:off x="508000" y="2438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mount /dev/sdb1 /mnt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F4A043-B1D2-6341-70CB-418532DE811F}"/>
              </a:ext>
            </a:extLst>
          </p:cNvPr>
          <p:cNvSpPr txBox="1"/>
          <p:nvPr/>
        </p:nvSpPr>
        <p:spPr>
          <a:xfrm>
            <a:off x="4127500" y="2463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Mount a disk to a directory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D3FDA8-D568-B6C6-D6F0-69095DF84E73}"/>
              </a:ext>
            </a:extLst>
          </p:cNvPr>
          <p:cNvSpPr/>
          <p:nvPr/>
        </p:nvSpPr>
        <p:spPr>
          <a:xfrm>
            <a:off x="508000" y="2946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fdisk /dev/sdb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C20277-2E22-3782-B595-32BB5FA1FB75}"/>
              </a:ext>
            </a:extLst>
          </p:cNvPr>
          <p:cNvSpPr txBox="1"/>
          <p:nvPr/>
        </p:nvSpPr>
        <p:spPr>
          <a:xfrm>
            <a:off x="4127500" y="2971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Partition a disk interactively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77397D-79E9-0B5D-6E4A-16D2FF0CB126}"/>
              </a:ext>
            </a:extLst>
          </p:cNvPr>
          <p:cNvSpPr/>
          <p:nvPr/>
        </p:nvSpPr>
        <p:spPr>
          <a:xfrm>
            <a:off x="508000" y="3454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mkfs.ext4 /dev/sdb1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5129CD-EC74-8ACF-3002-686F8FA3C669}"/>
              </a:ext>
            </a:extLst>
          </p:cNvPr>
          <p:cNvSpPr txBox="1"/>
          <p:nvPr/>
        </p:nvSpPr>
        <p:spPr>
          <a:xfrm>
            <a:off x="4127500" y="3479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1E1E1E"/>
                </a:solidFill>
                <a:latin typeface="Segoe UI" panose="020B0502040204020203" pitchFamily="34" charset="0"/>
              </a:rPr>
              <a:t>Format partition with ext4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D3655B-0323-83C6-15DC-22396C299DC0}"/>
              </a:ext>
            </a:extLst>
          </p:cNvPr>
          <p:cNvSpPr/>
          <p:nvPr/>
        </p:nvSpPr>
        <p:spPr>
          <a:xfrm>
            <a:off x="508000" y="3962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blkid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D54D01-021D-18BB-FD43-35A2D735F07F}"/>
              </a:ext>
            </a:extLst>
          </p:cNvPr>
          <p:cNvSpPr txBox="1"/>
          <p:nvPr/>
        </p:nvSpPr>
        <p:spPr>
          <a:xfrm>
            <a:off x="4127500" y="3987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Show UUID and filesystem type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078319-DB43-E0DD-7985-F01E16296E12}"/>
              </a:ext>
            </a:extLst>
          </p:cNvPr>
          <p:cNvSpPr/>
          <p:nvPr/>
        </p:nvSpPr>
        <p:spPr>
          <a:xfrm>
            <a:off x="508000" y="4470400"/>
            <a:ext cx="3429000" cy="4318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 b="1">
                <a:solidFill>
                  <a:srgbClr val="4CAF50"/>
                </a:solidFill>
                <a:latin typeface="Segoe UI" panose="020B0502040204020203" pitchFamily="34" charset="0"/>
              </a:rPr>
              <a:t>/etc/fstab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DEDB8-4D98-FA30-2BD6-C51B83A40D3B}"/>
              </a:ext>
            </a:extLst>
          </p:cNvPr>
          <p:cNvSpPr txBox="1"/>
          <p:nvPr/>
        </p:nvSpPr>
        <p:spPr>
          <a:xfrm>
            <a:off x="4127500" y="4495800"/>
            <a:ext cx="7747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1E1E1E"/>
                </a:solidFill>
                <a:latin typeface="Segoe UI" panose="020B0502040204020203" pitchFamily="34" charset="0"/>
              </a:rPr>
              <a:t>Config file for auto-mounting on boot</a:t>
            </a:r>
            <a:endParaRPr lang="en-IN" sz="13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A5815-F71B-589C-B39A-7129B59F31DC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2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FD618-2341-974F-E437-DAE74984E9B9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SSH and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C8240-A7EE-8AF6-F526-F813597D8658}"/>
              </a:ext>
            </a:extLst>
          </p:cNvPr>
          <p:cNvSpPr txBox="1"/>
          <p:nvPr/>
        </p:nvSpPr>
        <p:spPr>
          <a:xfrm>
            <a:off x="635000" y="8255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FF9800"/>
                </a:solidFill>
                <a:latin typeface="Segoe UI" panose="020B0502040204020203" pitchFamily="34" charset="0"/>
              </a:rPr>
              <a:t>SSH Key-Based Authentication Flow: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51F1BC-B6C6-7807-1623-9748ABA1B309}"/>
              </a:ext>
            </a:extLst>
          </p:cNvPr>
          <p:cNvSpPr/>
          <p:nvPr/>
        </p:nvSpPr>
        <p:spPr>
          <a:xfrm>
            <a:off x="381000" y="1270000"/>
            <a:ext cx="2667000" cy="5715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Generate Key Pair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3A5B5-E1A2-7CD6-E799-1629B6924BC7}"/>
              </a:ext>
            </a:extLst>
          </p:cNvPr>
          <p:cNvSpPr txBox="1"/>
          <p:nvPr/>
        </p:nvSpPr>
        <p:spPr>
          <a:xfrm>
            <a:off x="381000" y="1905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B4BEC8"/>
                </a:solidFill>
                <a:latin typeface="Segoe UI" panose="020B0502040204020203" pitchFamily="34" charset="0"/>
              </a:rPr>
              <a:t>ssh-keygen -t rsa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EBFD6E-9005-7766-777D-09B573A90EE3}"/>
              </a:ext>
            </a:extLst>
          </p:cNvPr>
          <p:cNvSpPr/>
          <p:nvPr/>
        </p:nvSpPr>
        <p:spPr>
          <a:xfrm>
            <a:off x="3365500" y="1270000"/>
            <a:ext cx="2667000" cy="5715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Copy Public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0863E9-6DDC-4FA9-9123-3F04AA1D0A3C}"/>
              </a:ext>
            </a:extLst>
          </p:cNvPr>
          <p:cNvSpPr txBox="1"/>
          <p:nvPr/>
        </p:nvSpPr>
        <p:spPr>
          <a:xfrm>
            <a:off x="3365500" y="1905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B4BEC8"/>
                </a:solidFill>
                <a:latin typeface="Segoe UI" panose="020B0502040204020203" pitchFamily="34" charset="0"/>
              </a:rPr>
              <a:t>ssh-copy-id user@host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7654DC-F1AE-8B87-6EC1-88F886E188A6}"/>
              </a:ext>
            </a:extLst>
          </p:cNvPr>
          <p:cNvSpPr/>
          <p:nvPr/>
        </p:nvSpPr>
        <p:spPr>
          <a:xfrm>
            <a:off x="6350000" y="1270000"/>
            <a:ext cx="2667000" cy="5715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Connect via SSH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C14BEC-6F42-FDBC-6B1A-AFA80BFED747}"/>
              </a:ext>
            </a:extLst>
          </p:cNvPr>
          <p:cNvSpPr txBox="1"/>
          <p:nvPr/>
        </p:nvSpPr>
        <p:spPr>
          <a:xfrm>
            <a:off x="6350000" y="1905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B4BEC8"/>
                </a:solidFill>
                <a:latin typeface="Segoe UI" panose="020B0502040204020203" pitchFamily="34" charset="0"/>
              </a:rPr>
              <a:t>ssh user@host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E44A2D-654D-182E-9A1E-CCB197CC0220}"/>
              </a:ext>
            </a:extLst>
          </p:cNvPr>
          <p:cNvSpPr/>
          <p:nvPr/>
        </p:nvSpPr>
        <p:spPr>
          <a:xfrm>
            <a:off x="9334500" y="1270000"/>
            <a:ext cx="2667000" cy="5715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Server Verifies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25946C-89A9-9A76-3104-E3C373525D88}"/>
              </a:ext>
            </a:extLst>
          </p:cNvPr>
          <p:cNvSpPr txBox="1"/>
          <p:nvPr/>
        </p:nvSpPr>
        <p:spPr>
          <a:xfrm>
            <a:off x="9334500" y="1905000"/>
            <a:ext cx="266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1100">
                <a:solidFill>
                  <a:srgbClr val="B4BEC8"/>
                </a:solidFill>
                <a:latin typeface="Segoe UI" panose="020B0502040204020203" pitchFamily="34" charset="0"/>
              </a:rPr>
              <a:t>Matches keys = Access!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391B3-99E3-DF29-5777-AFA7719FA6B7}"/>
              </a:ext>
            </a:extLst>
          </p:cNvPr>
          <p:cNvSpPr txBox="1"/>
          <p:nvPr/>
        </p:nvSpPr>
        <p:spPr>
          <a:xfrm>
            <a:off x="635000" y="24765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FFEB3B"/>
                </a:solidFill>
                <a:latin typeface="Segoe UI" panose="020B0502040204020203" pitchFamily="34" charset="0"/>
              </a:rPr>
              <a:t>SSH Hardening Best Practices: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8B4BC9-6441-F9C4-9743-20297317DA48}"/>
              </a:ext>
            </a:extLst>
          </p:cNvPr>
          <p:cNvSpPr/>
          <p:nvPr/>
        </p:nvSpPr>
        <p:spPr>
          <a:xfrm>
            <a:off x="762000" y="2921000"/>
            <a:ext cx="10668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Disable root login: PermitRootLogin no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4187A7-E797-66CF-1F35-76852DB0C6E3}"/>
              </a:ext>
            </a:extLst>
          </p:cNvPr>
          <p:cNvSpPr/>
          <p:nvPr/>
        </p:nvSpPr>
        <p:spPr>
          <a:xfrm>
            <a:off x="762000" y="3378200"/>
            <a:ext cx="10668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Disable password auth: PasswordAuthentication no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7FE26F-E103-41CB-9773-76B81CDF7258}"/>
              </a:ext>
            </a:extLst>
          </p:cNvPr>
          <p:cNvSpPr/>
          <p:nvPr/>
        </p:nvSpPr>
        <p:spPr>
          <a:xfrm>
            <a:off x="762000" y="3835400"/>
            <a:ext cx="10668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fr-FR" sz="1300">
                <a:solidFill>
                  <a:srgbClr val="C8D2DC"/>
                </a:solidFill>
                <a:latin typeface="Segoe UI" panose="020B0502040204020203" pitchFamily="34" charset="0"/>
              </a:rPr>
              <a:t>Change default port: Port 2222 (not 22)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76F039-D757-17A8-2976-24F0B684C39E}"/>
              </a:ext>
            </a:extLst>
          </p:cNvPr>
          <p:cNvSpPr/>
          <p:nvPr/>
        </p:nvSpPr>
        <p:spPr>
          <a:xfrm>
            <a:off x="762000" y="4292600"/>
            <a:ext cx="10668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Use fail2ban to block brute-force attacks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706CB1-2AE7-3442-E60F-3A30DC549924}"/>
              </a:ext>
            </a:extLst>
          </p:cNvPr>
          <p:cNvSpPr/>
          <p:nvPr/>
        </p:nvSpPr>
        <p:spPr>
          <a:xfrm>
            <a:off x="762000" y="4749800"/>
            <a:ext cx="10668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Allow specific users: AllowUsers deploy admin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0706D0-E506-CF46-C528-6DBBD45D2130}"/>
              </a:ext>
            </a:extLst>
          </p:cNvPr>
          <p:cNvSpPr txBox="1"/>
          <p:nvPr/>
        </p:nvSpPr>
        <p:spPr>
          <a:xfrm>
            <a:off x="635000" y="53340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600" b="1">
                <a:solidFill>
                  <a:srgbClr val="F44336"/>
                </a:solidFill>
                <a:latin typeface="Segoe UI" panose="020B0502040204020203" pitchFamily="34" charset="0"/>
              </a:rPr>
              <a:t>Firewall: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FB0D837-4C50-4AD6-1184-4C48EE5F4D07}"/>
              </a:ext>
            </a:extLst>
          </p:cNvPr>
          <p:cNvSpPr/>
          <p:nvPr/>
        </p:nvSpPr>
        <p:spPr>
          <a:xfrm>
            <a:off x="762000" y="5740400"/>
            <a:ext cx="5080000" cy="381000"/>
          </a:xfrm>
          <a:prstGeom prst="roundRect">
            <a:avLst/>
          </a:prstGeom>
          <a:solidFill>
            <a:srgbClr val="283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200">
                <a:solidFill>
                  <a:srgbClr val="4CAF50"/>
                </a:solidFill>
                <a:latin typeface="Segoe UI" panose="020B0502040204020203" pitchFamily="34" charset="0"/>
              </a:rPr>
              <a:t>ufw allow 443 | ufw deny 22 | ufw enable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CB9B9-327E-B00B-2F50-FCFA0E05EFF0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55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D0946-055C-EA35-BD5B-CE9EEC4DC767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200" b="1">
                <a:solidFill>
                  <a:srgbClr val="1E1E1E"/>
                </a:solidFill>
                <a:latin typeface="Segoe UI" panose="020B0502040204020203" pitchFamily="34" charset="0"/>
              </a:rPr>
              <a:t>Package Management and Cron Jobs</a:t>
            </a:r>
            <a:endParaRPr lang="en-IN" sz="3200" b="1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397E1-D718-0188-744A-BF4361C61036}"/>
              </a:ext>
            </a:extLst>
          </p:cNvPr>
          <p:cNvSpPr txBox="1"/>
          <p:nvPr/>
        </p:nvSpPr>
        <p:spPr>
          <a:xfrm>
            <a:off x="508000" y="889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1E1E1E"/>
                </a:solidFill>
                <a:latin typeface="Segoe UI" panose="020B0502040204020203" pitchFamily="34" charset="0"/>
              </a:rPr>
              <a:t>Package Managers: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8C3A5E-2271-9702-92FC-18143AD53FEC}"/>
              </a:ext>
            </a:extLst>
          </p:cNvPr>
          <p:cNvSpPr/>
          <p:nvPr/>
        </p:nvSpPr>
        <p:spPr>
          <a:xfrm>
            <a:off x="508000" y="1270000"/>
            <a:ext cx="4445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apt update; apt install nginx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4CC2F-3186-5D16-C85B-B38E89FD21ED}"/>
              </a:ext>
            </a:extLst>
          </p:cNvPr>
          <p:cNvSpPr txBox="1"/>
          <p:nvPr/>
        </p:nvSpPr>
        <p:spPr>
          <a:xfrm>
            <a:off x="5080000" y="1295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Debian/Ubuntu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411118-58A3-4696-C960-50F046C2FCCD}"/>
              </a:ext>
            </a:extLst>
          </p:cNvPr>
          <p:cNvSpPr/>
          <p:nvPr/>
        </p:nvSpPr>
        <p:spPr>
          <a:xfrm>
            <a:off x="508000" y="1727200"/>
            <a:ext cx="4445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yum install httpd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774D3-E86A-C915-71F5-79219E816560}"/>
              </a:ext>
            </a:extLst>
          </p:cNvPr>
          <p:cNvSpPr txBox="1"/>
          <p:nvPr/>
        </p:nvSpPr>
        <p:spPr>
          <a:xfrm>
            <a:off x="5080000" y="17526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CentOS/RHEL/Amazon Linux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36A907-0521-D080-FBBC-3AB89F9FA0C2}"/>
              </a:ext>
            </a:extLst>
          </p:cNvPr>
          <p:cNvSpPr/>
          <p:nvPr/>
        </p:nvSpPr>
        <p:spPr>
          <a:xfrm>
            <a:off x="508000" y="2184400"/>
            <a:ext cx="4445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dnf install nginx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20D01-3142-0268-D759-CECF85CDBCF8}"/>
              </a:ext>
            </a:extLst>
          </p:cNvPr>
          <p:cNvSpPr txBox="1"/>
          <p:nvPr/>
        </p:nvSpPr>
        <p:spPr>
          <a:xfrm>
            <a:off x="5080000" y="22098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Fedora / newer RHEL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A3DD71-426E-8459-D106-51FBFD4BEAF6}"/>
              </a:ext>
            </a:extLst>
          </p:cNvPr>
          <p:cNvSpPr/>
          <p:nvPr/>
        </p:nvSpPr>
        <p:spPr>
          <a:xfrm>
            <a:off x="508000" y="2641600"/>
            <a:ext cx="4445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rpm -ivh package.rpm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9656CB-05A1-EC40-8F64-0DE516DE344F}"/>
              </a:ext>
            </a:extLst>
          </p:cNvPr>
          <p:cNvSpPr txBox="1"/>
          <p:nvPr/>
        </p:nvSpPr>
        <p:spPr>
          <a:xfrm>
            <a:off x="5080000" y="26670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Install from .rpm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7773FC-DD0F-5FD1-CF31-16EEC26AA941}"/>
              </a:ext>
            </a:extLst>
          </p:cNvPr>
          <p:cNvSpPr txBox="1"/>
          <p:nvPr/>
        </p:nvSpPr>
        <p:spPr>
          <a:xfrm>
            <a:off x="508000" y="33655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b="1">
                <a:solidFill>
                  <a:srgbClr val="1E1E1E"/>
                </a:solidFill>
                <a:latin typeface="Segoe UI" panose="020B0502040204020203" pitchFamily="34" charset="0"/>
              </a:rPr>
              <a:t>Cron - Schedule Tasks: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BA9320-5340-5673-530F-13E824D5FF14}"/>
              </a:ext>
            </a:extLst>
          </p:cNvPr>
          <p:cNvSpPr txBox="1"/>
          <p:nvPr/>
        </p:nvSpPr>
        <p:spPr>
          <a:xfrm>
            <a:off x="508000" y="3746500"/>
            <a:ext cx="11176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 b="1">
                <a:solidFill>
                  <a:srgbClr val="0078D7"/>
                </a:solidFill>
                <a:latin typeface="Segoe UI" panose="020B0502040204020203" pitchFamily="34" charset="0"/>
              </a:rPr>
              <a:t>Format: MIN HOUR DAY MONTH WEEKDAY COMMAND</a:t>
            </a:r>
            <a:endParaRPr lang="en-IN" sz="1400" b="1">
              <a:solidFill>
                <a:srgbClr val="0078D7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9B5479-0E74-BCCC-928E-BC47F5DA49A2}"/>
              </a:ext>
            </a:extLst>
          </p:cNvPr>
          <p:cNvSpPr/>
          <p:nvPr/>
        </p:nvSpPr>
        <p:spPr>
          <a:xfrm>
            <a:off x="508000" y="4191000"/>
            <a:ext cx="3810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0 2 * * * /backup.sh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90D6E3-52FC-DA9F-2ADC-6B764A7827ED}"/>
              </a:ext>
            </a:extLst>
          </p:cNvPr>
          <p:cNvSpPr txBox="1"/>
          <p:nvPr/>
        </p:nvSpPr>
        <p:spPr>
          <a:xfrm>
            <a:off x="4508500" y="42164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1E1E1E"/>
                </a:solidFill>
                <a:latin typeface="Segoe UI" panose="020B0502040204020203" pitchFamily="34" charset="0"/>
              </a:rPr>
              <a:t>Run backup every day at 2 AM</a:t>
            </a:r>
            <a:endParaRPr lang="en-IN" sz="1200">
              <a:solidFill>
                <a:srgbClr val="1E1E1E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8D98CE-5252-D74F-8070-16C3769C9130}"/>
              </a:ext>
            </a:extLst>
          </p:cNvPr>
          <p:cNvSpPr/>
          <p:nvPr/>
        </p:nvSpPr>
        <p:spPr>
          <a:xfrm>
            <a:off x="508000" y="4648200"/>
            <a:ext cx="3810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*/5 * * * * /check.sh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4B5B9-61EA-0DF5-A417-1E597F33CA36}"/>
              </a:ext>
            </a:extLst>
          </p:cNvPr>
          <p:cNvSpPr txBox="1"/>
          <p:nvPr/>
        </p:nvSpPr>
        <p:spPr>
          <a:xfrm>
            <a:off x="4508500" y="46736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Run every 5 minutes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FC7D89-602E-4B99-791F-5E3C31CD67EE}"/>
              </a:ext>
            </a:extLst>
          </p:cNvPr>
          <p:cNvSpPr/>
          <p:nvPr/>
        </p:nvSpPr>
        <p:spPr>
          <a:xfrm>
            <a:off x="508000" y="5105400"/>
            <a:ext cx="3810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100" b="1">
                <a:solidFill>
                  <a:srgbClr val="4CAF50"/>
                </a:solidFill>
                <a:latin typeface="Segoe UI" panose="020B0502040204020203" pitchFamily="34" charset="0"/>
              </a:rPr>
              <a:t>0 0 * * 0 /cleanup.sh</a:t>
            </a:r>
            <a:endParaRPr lang="en-IN" sz="1100" b="1">
              <a:solidFill>
                <a:srgbClr val="4CAF50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114F3-C3B5-D54B-1AC3-A283356FAAD2}"/>
              </a:ext>
            </a:extLst>
          </p:cNvPr>
          <p:cNvSpPr txBox="1"/>
          <p:nvPr/>
        </p:nvSpPr>
        <p:spPr>
          <a:xfrm>
            <a:off x="4508500" y="51308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Every Sunday at midnight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7C79F4B-45F1-1614-F2BD-E8E6D0880538}"/>
              </a:ext>
            </a:extLst>
          </p:cNvPr>
          <p:cNvSpPr/>
          <p:nvPr/>
        </p:nvSpPr>
        <p:spPr>
          <a:xfrm>
            <a:off x="508000" y="5562600"/>
            <a:ext cx="3810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crontab -e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1C564-E79F-B707-44CE-C25778106933}"/>
              </a:ext>
            </a:extLst>
          </p:cNvPr>
          <p:cNvSpPr txBox="1"/>
          <p:nvPr/>
        </p:nvSpPr>
        <p:spPr>
          <a:xfrm>
            <a:off x="4508500" y="55880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Edit your cron jobs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16117E-2F21-7D61-17A7-ACC7A9D489A8}"/>
              </a:ext>
            </a:extLst>
          </p:cNvPr>
          <p:cNvSpPr/>
          <p:nvPr/>
        </p:nvSpPr>
        <p:spPr>
          <a:xfrm>
            <a:off x="508000" y="6019800"/>
            <a:ext cx="3810000" cy="381000"/>
          </a:xfrm>
          <a:prstGeom prst="roundRect">
            <a:avLst/>
          </a:prstGeom>
          <a:solidFill>
            <a:srgbClr val="1418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100" b="1">
                <a:solidFill>
                  <a:srgbClr val="4CAF50"/>
                </a:solidFill>
                <a:latin typeface="Segoe UI" panose="020B0502040204020203" pitchFamily="34" charset="0"/>
              </a:rPr>
              <a:t>crontab -l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6926B7-2EAD-85C2-72F8-706178B3EAE7}"/>
              </a:ext>
            </a:extLst>
          </p:cNvPr>
          <p:cNvSpPr txBox="1"/>
          <p:nvPr/>
        </p:nvSpPr>
        <p:spPr>
          <a:xfrm>
            <a:off x="4508500" y="6045200"/>
            <a:ext cx="736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1E1E1E"/>
                </a:solidFill>
                <a:latin typeface="Segoe UI" panose="020B0502040204020203" pitchFamily="34" charset="0"/>
              </a:rPr>
              <a:t>List your cron jobs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1F89B7-BFBF-8FDF-F181-2CC7DF3E148C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448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09151-6674-2098-CE8C-9BAE2B836968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Project: EC2 Server Hardening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133BC-FFBD-0752-651E-10F4C4567B35}"/>
              </a:ext>
            </a:extLst>
          </p:cNvPr>
          <p:cNvSpPr txBox="1"/>
          <p:nvPr/>
        </p:nvSpPr>
        <p:spPr>
          <a:xfrm>
            <a:off x="508000" y="7366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600">
                <a:solidFill>
                  <a:srgbClr val="FF9800"/>
                </a:solidFill>
                <a:latin typeface="Segoe UI" panose="020B0502040204020203" pitchFamily="34" charset="0"/>
              </a:rPr>
              <a:t>Build a production-ready, hardened server from scratch</a:t>
            </a:r>
            <a:endParaRPr lang="en-IN" sz="1600">
              <a:solidFill>
                <a:srgbClr val="FF980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CA1BF-71CF-065D-7D11-E4CFE3657F1E}"/>
              </a:ext>
            </a:extLst>
          </p:cNvPr>
          <p:cNvSpPr/>
          <p:nvPr/>
        </p:nvSpPr>
        <p:spPr>
          <a:xfrm>
            <a:off x="635000" y="1206500"/>
            <a:ext cx="3048000" cy="6350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1. SSH Hardened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AECE6B-0A3A-282F-D37F-03E18BF7A164}"/>
              </a:ext>
            </a:extLst>
          </p:cNvPr>
          <p:cNvSpPr txBox="1"/>
          <p:nvPr/>
        </p:nvSpPr>
        <p:spPr>
          <a:xfrm>
            <a:off x="3873500" y="13081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Key-only auth, custom port, fail2ban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04C2D1-B259-83E8-97FA-DC89B76BEBE7}"/>
              </a:ext>
            </a:extLst>
          </p:cNvPr>
          <p:cNvSpPr/>
          <p:nvPr/>
        </p:nvSpPr>
        <p:spPr>
          <a:xfrm>
            <a:off x="635000" y="1943100"/>
            <a:ext cx="3048000" cy="6350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2. Log Rotation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644E4-9467-3C37-4CB3-234F241897F9}"/>
              </a:ext>
            </a:extLst>
          </p:cNvPr>
          <p:cNvSpPr txBox="1"/>
          <p:nvPr/>
        </p:nvSpPr>
        <p:spPr>
          <a:xfrm>
            <a:off x="3873500" y="20447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Automated with logrotate + cron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AC5ED9-285A-5C66-8CB8-C28339A672B0}"/>
              </a:ext>
            </a:extLst>
          </p:cNvPr>
          <p:cNvSpPr/>
          <p:nvPr/>
        </p:nvSpPr>
        <p:spPr>
          <a:xfrm>
            <a:off x="635000" y="2679700"/>
            <a:ext cx="3048000" cy="6350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3. Disk Monitoring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86342-98CC-9701-7403-3CEB26073FC7}"/>
              </a:ext>
            </a:extLst>
          </p:cNvPr>
          <p:cNvSpPr txBox="1"/>
          <p:nvPr/>
        </p:nvSpPr>
        <p:spPr>
          <a:xfrm>
            <a:off x="3873500" y="27813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Alerts via cron + SNS when disk &gt; 80%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8A7AEF-A0BB-FBAB-5877-31B63501F6DE}"/>
              </a:ext>
            </a:extLst>
          </p:cNvPr>
          <p:cNvSpPr/>
          <p:nvPr/>
        </p:nvSpPr>
        <p:spPr>
          <a:xfrm>
            <a:off x="635000" y="3416300"/>
            <a:ext cx="3048000" cy="6350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4. Firewall Rules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8FC735-5494-3A9B-D32B-C5E796201A4E}"/>
              </a:ext>
            </a:extLst>
          </p:cNvPr>
          <p:cNvSpPr txBox="1"/>
          <p:nvPr/>
        </p:nvSpPr>
        <p:spPr>
          <a:xfrm>
            <a:off x="3873500" y="35179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300">
                <a:solidFill>
                  <a:srgbClr val="C8D2DC"/>
                </a:solidFill>
                <a:latin typeface="Segoe UI" panose="020B0502040204020203" pitchFamily="34" charset="0"/>
              </a:rPr>
              <a:t>iptables / firewalld - only needed ports</a:t>
            </a:r>
            <a:endParaRPr lang="en-IN" sz="1300">
              <a:solidFill>
                <a:srgbClr val="C8D2D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C9CD67-5577-713A-9CC5-EECB3CE7BAF0}"/>
              </a:ext>
            </a:extLst>
          </p:cNvPr>
          <p:cNvSpPr/>
          <p:nvPr/>
        </p:nvSpPr>
        <p:spPr>
          <a:xfrm>
            <a:off x="635000" y="4152900"/>
            <a:ext cx="3048000" cy="6350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5. Nginx Secured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C4FF7-38AD-51E5-4D01-E84B28EFAECE}"/>
              </a:ext>
            </a:extLst>
          </p:cNvPr>
          <p:cNvSpPr txBox="1"/>
          <p:nvPr/>
        </p:nvSpPr>
        <p:spPr>
          <a:xfrm>
            <a:off x="3873500" y="42545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Installed, configured, SSL-ready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83CD3-81D2-4653-D4C0-0F1A1C00158C}"/>
              </a:ext>
            </a:extLst>
          </p:cNvPr>
          <p:cNvSpPr/>
          <p:nvPr/>
        </p:nvSpPr>
        <p:spPr>
          <a:xfrm>
            <a:off x="635000" y="4889500"/>
            <a:ext cx="3048000" cy="6350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6. Automation Scripts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DB7AF-B46F-2859-2E77-8F5330C22607}"/>
              </a:ext>
            </a:extLst>
          </p:cNvPr>
          <p:cNvSpPr txBox="1"/>
          <p:nvPr/>
        </p:nvSpPr>
        <p:spPr>
          <a:xfrm>
            <a:off x="3873500" y="4991100"/>
            <a:ext cx="812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300">
                <a:solidFill>
                  <a:srgbClr val="C8D2DC"/>
                </a:solidFill>
                <a:latin typeface="Segoe UI" panose="020B0502040204020203" pitchFamily="34" charset="0"/>
              </a:rPr>
              <a:t>Repeatable setup - infrastructure as code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E0200C-AFC5-40D4-6E04-CF0C736956F7}"/>
              </a:ext>
            </a:extLst>
          </p:cNvPr>
          <p:cNvSpPr/>
          <p:nvPr/>
        </p:nvSpPr>
        <p:spPr>
          <a:xfrm>
            <a:off x="635000" y="5715000"/>
            <a:ext cx="10922000" cy="444500"/>
          </a:xfrm>
          <a:prstGeom prst="roundRect">
            <a:avLst/>
          </a:prstGeom>
          <a:solidFill>
            <a:srgbClr val="2832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200">
                <a:solidFill>
                  <a:srgbClr val="FFEB3B"/>
                </a:solidFill>
                <a:latin typeface="Segoe UI" panose="020B0502040204020203" pitchFamily="34" charset="0"/>
              </a:rPr>
              <a:t>Deliverable: Hardened server + automation scripts + security audit checklist</a:t>
            </a:r>
            <a:endParaRPr lang="en-IN" sz="1200">
              <a:solidFill>
                <a:srgbClr val="FFEB3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F7103-D8BE-1A9E-2D46-F5A9CC0684F8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992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66E0C-E8AA-B3F5-813C-4995414C3642}"/>
              </a:ext>
            </a:extLst>
          </p:cNvPr>
          <p:cNvSpPr txBox="1"/>
          <p:nvPr/>
        </p:nvSpPr>
        <p:spPr>
          <a:xfrm>
            <a:off x="508000" y="1905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3200" b="1">
                <a:solidFill>
                  <a:srgbClr val="1E1E1E"/>
                </a:solidFill>
                <a:latin typeface="Segoe UI" panose="020B0502040204020203" pitchFamily="34" charset="0"/>
              </a:rPr>
              <a:t>Top Linux Interview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8DD166-A5C1-1A14-440F-9DC15E86808C}"/>
              </a:ext>
            </a:extLst>
          </p:cNvPr>
          <p:cNvSpPr/>
          <p:nvPr/>
        </p:nvSpPr>
        <p:spPr>
          <a:xfrm>
            <a:off x="508000" y="736600"/>
            <a:ext cx="3175000" cy="50800"/>
          </a:xfrm>
          <a:prstGeom prst="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FCC355-B20A-03E4-C6AA-18656E617ADA}"/>
              </a:ext>
            </a:extLst>
          </p:cNvPr>
          <p:cNvSpPr/>
          <p:nvPr/>
        </p:nvSpPr>
        <p:spPr>
          <a:xfrm>
            <a:off x="508000" y="9144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1. Explain the Linux boot process (BIOS &gt; GRUB &gt; Kernel &gt; systemd)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4AF5BE-AF02-20D8-F370-B7F44A5377BC}"/>
              </a:ext>
            </a:extLst>
          </p:cNvPr>
          <p:cNvSpPr/>
          <p:nvPr/>
        </p:nvSpPr>
        <p:spPr>
          <a:xfrm>
            <a:off x="508000" y="14097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2. Hard link vs Soft link - what is the difference?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39F020-F91D-D1FC-3D81-15D26CB04EC1}"/>
              </a:ext>
            </a:extLst>
          </p:cNvPr>
          <p:cNvSpPr/>
          <p:nvPr/>
        </p:nvSpPr>
        <p:spPr>
          <a:xfrm>
            <a:off x="508000" y="19050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3. chmod 755 vs chmod 644 - when to use each?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6304FA-D994-4448-9CAF-16272D86F6A9}"/>
              </a:ext>
            </a:extLst>
          </p:cNvPr>
          <p:cNvSpPr/>
          <p:nvPr/>
        </p:nvSpPr>
        <p:spPr>
          <a:xfrm>
            <a:off x="508000" y="24003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4. How to find files &gt;100MB modified in last 7 days?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D6D20A-8D29-8A69-2B2A-41540592C017}"/>
              </a:ext>
            </a:extLst>
          </p:cNvPr>
          <p:cNvSpPr/>
          <p:nvPr/>
        </p:nvSpPr>
        <p:spPr>
          <a:xfrm>
            <a:off x="508000" y="28956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>
                <a:solidFill>
                  <a:srgbClr val="FFFFFF"/>
                </a:solidFill>
                <a:latin typeface="Segoe UI" panose="020B0502040204020203" pitchFamily="34" charset="0"/>
              </a:rPr>
              <a:t>5. Explain iptables chains: INPUT, OUTPUT, FORWARD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133F59-DBF4-2D2A-4428-A2DDFF11419F}"/>
              </a:ext>
            </a:extLst>
          </p:cNvPr>
          <p:cNvSpPr/>
          <p:nvPr/>
        </p:nvSpPr>
        <p:spPr>
          <a:xfrm>
            <a:off x="508000" y="33909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6. How does SSH key-based authentication work?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3D131A-514F-5ECA-7CC7-A27C8B327D3F}"/>
              </a:ext>
            </a:extLst>
          </p:cNvPr>
          <p:cNvSpPr/>
          <p:nvPr/>
        </p:nvSpPr>
        <p:spPr>
          <a:xfrm>
            <a:off x="508000" y="38862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7. What is the sticky bit and when to use it?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2B2C20-F0CA-E1B4-F492-32E55C618C97}"/>
              </a:ext>
            </a:extLst>
          </p:cNvPr>
          <p:cNvSpPr/>
          <p:nvPr/>
        </p:nvSpPr>
        <p:spPr>
          <a:xfrm>
            <a:off x="508000" y="43815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8. How to troubleshoot a service that will not start?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C0C997-B515-3189-7AB2-19E6CBB1DA6D}"/>
              </a:ext>
            </a:extLst>
          </p:cNvPr>
          <p:cNvSpPr/>
          <p:nvPr/>
        </p:nvSpPr>
        <p:spPr>
          <a:xfrm>
            <a:off x="508000" y="48768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9. Difference between /etc/passwd and /etc/shadow?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5E8794-5DC3-2DCE-0029-DFD23D6DE065}"/>
              </a:ext>
            </a:extLst>
          </p:cNvPr>
          <p:cNvSpPr/>
          <p:nvPr/>
        </p:nvSpPr>
        <p:spPr>
          <a:xfrm>
            <a:off x="508000" y="5372100"/>
            <a:ext cx="11176000" cy="431800"/>
          </a:xfrm>
          <a:prstGeom prst="roundRect">
            <a:avLst/>
          </a:prstGeom>
          <a:solidFill>
            <a:srgbClr val="323C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10. ps aux vs top - when to use which?</a:t>
            </a:r>
            <a:endParaRPr lang="en-IN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13E55D-293D-A67F-E8A2-D0ADD412F66A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8C96A5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8C96A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352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A67B92-D548-E622-B473-8B113746E8EF}"/>
              </a:ext>
            </a:extLst>
          </p:cNvPr>
          <p:cNvSpPr txBox="1"/>
          <p:nvPr/>
        </p:nvSpPr>
        <p:spPr>
          <a:xfrm>
            <a:off x="508000" y="1270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Segoe UI" panose="020B0502040204020203" pitchFamily="34" charset="0"/>
              </a:rPr>
              <a:t>Linux Quick Reference Cheat Sheet</a:t>
            </a:r>
            <a:endParaRPr lang="en-IN" sz="2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1E2BE9-51B1-C342-C19E-B388B6A46F87}"/>
              </a:ext>
            </a:extLst>
          </p:cNvPr>
          <p:cNvSpPr/>
          <p:nvPr/>
        </p:nvSpPr>
        <p:spPr>
          <a:xfrm>
            <a:off x="381000" y="698500"/>
            <a:ext cx="1524000" cy="4572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33212-A9B2-2FFA-A424-568FDC334839}"/>
              </a:ext>
            </a:extLst>
          </p:cNvPr>
          <p:cNvSpPr txBox="1"/>
          <p:nvPr/>
        </p:nvSpPr>
        <p:spPr>
          <a:xfrm>
            <a:off x="2032000" y="7366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Consolas" panose="020B0609020204030204" pitchFamily="49" charset="0"/>
              </a:rPr>
              <a:t>ls  cd  cp  mv  rm  mkdir  find  touch  ln</a:t>
            </a:r>
            <a:endParaRPr lang="en-IN" sz="1200">
              <a:solidFill>
                <a:srgbClr val="C8D2DC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952A99-2C33-320D-27B5-24DB6178291E}"/>
              </a:ext>
            </a:extLst>
          </p:cNvPr>
          <p:cNvSpPr/>
          <p:nvPr/>
        </p:nvSpPr>
        <p:spPr>
          <a:xfrm>
            <a:off x="381000" y="1231900"/>
            <a:ext cx="1524000" cy="4572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Permissions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FA513-B75E-3A03-FA45-C18558B00C60}"/>
              </a:ext>
            </a:extLst>
          </p:cNvPr>
          <p:cNvSpPr txBox="1"/>
          <p:nvPr/>
        </p:nvSpPr>
        <p:spPr>
          <a:xfrm>
            <a:off x="2032000" y="12700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chmod  chown  chgrp  umask  getfacl  setfacl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6A68ED-61F7-445B-DFF7-58841F132604}"/>
              </a:ext>
            </a:extLst>
          </p:cNvPr>
          <p:cNvSpPr/>
          <p:nvPr/>
        </p:nvSpPr>
        <p:spPr>
          <a:xfrm>
            <a:off x="381000" y="1765300"/>
            <a:ext cx="1524000" cy="4572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E379C-F096-954A-94C4-4F7C40990233}"/>
              </a:ext>
            </a:extLst>
          </p:cNvPr>
          <p:cNvSpPr txBox="1"/>
          <p:nvPr/>
        </p:nvSpPr>
        <p:spPr>
          <a:xfrm>
            <a:off x="2032000" y="18034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Consolas" panose="020B0609020204030204" pitchFamily="49" charset="0"/>
              </a:rPr>
              <a:t>cat  grep  awk  sed  head  tail  sort  uniq  wc</a:t>
            </a:r>
            <a:endParaRPr lang="en-IN" sz="1200">
              <a:solidFill>
                <a:srgbClr val="C8D2D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8517F0-69DF-39C7-883B-74758EDF6CD4}"/>
              </a:ext>
            </a:extLst>
          </p:cNvPr>
          <p:cNvSpPr/>
          <p:nvPr/>
        </p:nvSpPr>
        <p:spPr>
          <a:xfrm>
            <a:off x="381000" y="2298700"/>
            <a:ext cx="1524000" cy="4572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3D013E-3049-D991-E2EF-F063A2804C27}"/>
              </a:ext>
            </a:extLst>
          </p:cNvPr>
          <p:cNvSpPr txBox="1"/>
          <p:nvPr/>
        </p:nvSpPr>
        <p:spPr>
          <a:xfrm>
            <a:off x="2032000" y="23368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200">
                <a:solidFill>
                  <a:srgbClr val="C8D2DC"/>
                </a:solidFill>
                <a:latin typeface="Consolas" panose="020B0609020204030204" pitchFamily="49" charset="0"/>
              </a:rPr>
              <a:t>ps  top  kill  systemctl  journalctl  nohup  bg  fg</a:t>
            </a:r>
            <a:endParaRPr lang="en-IN" sz="1200">
              <a:solidFill>
                <a:srgbClr val="C8D2D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7C4456-60A9-1903-DE95-675109871291}"/>
              </a:ext>
            </a:extLst>
          </p:cNvPr>
          <p:cNvSpPr/>
          <p:nvPr/>
        </p:nvSpPr>
        <p:spPr>
          <a:xfrm>
            <a:off x="381000" y="2832100"/>
            <a:ext cx="1524000" cy="457200"/>
          </a:xfrm>
          <a:prstGeom prst="round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Network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7C608D-9B8D-24FC-5DD2-748F5CBBA203}"/>
              </a:ext>
            </a:extLst>
          </p:cNvPr>
          <p:cNvSpPr txBox="1"/>
          <p:nvPr/>
        </p:nvSpPr>
        <p:spPr>
          <a:xfrm>
            <a:off x="2032000" y="28702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ip  ss  curl  wget  ping  dig  scp  rsync  tcpdump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30121E-D24A-E186-5FA1-7498BFF62CAA}"/>
              </a:ext>
            </a:extLst>
          </p:cNvPr>
          <p:cNvSpPr/>
          <p:nvPr/>
        </p:nvSpPr>
        <p:spPr>
          <a:xfrm>
            <a:off x="381000" y="3365500"/>
            <a:ext cx="1524000" cy="457200"/>
          </a:xfrm>
          <a:prstGeom prst="roundRect">
            <a:avLst/>
          </a:prstGeom>
          <a:solidFill>
            <a:srgbClr val="9C27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5E387-11D5-156E-3819-57CBA1794CE6}"/>
              </a:ext>
            </a:extLst>
          </p:cNvPr>
          <p:cNvSpPr txBox="1"/>
          <p:nvPr/>
        </p:nvSpPr>
        <p:spPr>
          <a:xfrm>
            <a:off x="2032000" y="34036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useradd  usermod  userdel  passwd  groupadd  sudo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029120-0697-723C-0174-02B705CDFAF9}"/>
              </a:ext>
            </a:extLst>
          </p:cNvPr>
          <p:cNvSpPr/>
          <p:nvPr/>
        </p:nvSpPr>
        <p:spPr>
          <a:xfrm>
            <a:off x="381000" y="3898900"/>
            <a:ext cx="1524000" cy="4572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Disk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19C46-DCA1-1FFE-0A51-5C16DB0453CB}"/>
              </a:ext>
            </a:extLst>
          </p:cNvPr>
          <p:cNvSpPr txBox="1"/>
          <p:nvPr/>
        </p:nvSpPr>
        <p:spPr>
          <a:xfrm>
            <a:off x="2032000" y="39370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sv-SE" sz="1200">
                <a:solidFill>
                  <a:srgbClr val="C8D2DC"/>
                </a:solidFill>
                <a:latin typeface="Consolas" panose="020B0609020204030204" pitchFamily="49" charset="0"/>
              </a:rPr>
              <a:t>df  du  mount  lsblk  fdisk  mkfs  blkid</a:t>
            </a:r>
            <a:endParaRPr lang="en-IN" sz="1200">
              <a:solidFill>
                <a:srgbClr val="C8D2DC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2FF039-16B8-6D44-DE77-4C65F87F80C3}"/>
              </a:ext>
            </a:extLst>
          </p:cNvPr>
          <p:cNvSpPr/>
          <p:nvPr/>
        </p:nvSpPr>
        <p:spPr>
          <a:xfrm>
            <a:off x="381000" y="4432300"/>
            <a:ext cx="1524000" cy="457200"/>
          </a:xfrm>
          <a:prstGeom prst="roundRect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Packages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C8FD3-B60D-5B89-3554-EA284D7EFBE2}"/>
              </a:ext>
            </a:extLst>
          </p:cNvPr>
          <p:cNvSpPr txBox="1"/>
          <p:nvPr/>
        </p:nvSpPr>
        <p:spPr>
          <a:xfrm>
            <a:off x="2032000" y="44704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apt  yum  dnf  rpm  dpkg  snap  pip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F687D8-1D62-6994-261A-4D260BEDA16D}"/>
              </a:ext>
            </a:extLst>
          </p:cNvPr>
          <p:cNvSpPr/>
          <p:nvPr/>
        </p:nvSpPr>
        <p:spPr>
          <a:xfrm>
            <a:off x="381000" y="4965700"/>
            <a:ext cx="1524000" cy="457200"/>
          </a:xfrm>
          <a:prstGeom prst="roundRect">
            <a:avLst/>
          </a:prstGeom>
          <a:solidFill>
            <a:srgbClr val="FF9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SSH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354F78-2B55-500E-6CFC-C1C2BF9C52BC}"/>
              </a:ext>
            </a:extLst>
          </p:cNvPr>
          <p:cNvSpPr txBox="1"/>
          <p:nvPr/>
        </p:nvSpPr>
        <p:spPr>
          <a:xfrm>
            <a:off x="2032000" y="50038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ssh  ssh-keygen  ssh-copy-id  scp  ufw  iptables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5951CC-8598-9868-C7D4-BC8A400CEAB1}"/>
              </a:ext>
            </a:extLst>
          </p:cNvPr>
          <p:cNvSpPr/>
          <p:nvPr/>
        </p:nvSpPr>
        <p:spPr>
          <a:xfrm>
            <a:off x="381000" y="5499100"/>
            <a:ext cx="1524000" cy="457200"/>
          </a:xfrm>
          <a:prstGeom prst="roundRect">
            <a:avLst/>
          </a:prstGeom>
          <a:solidFill>
            <a:srgbClr val="F443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1300" b="1">
                <a:solidFill>
                  <a:srgbClr val="FFFFFF"/>
                </a:solidFill>
                <a:latin typeface="Segoe UI" panose="020B0502040204020203" pitchFamily="34" charset="0"/>
              </a:rPr>
              <a:t>System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4E8D5A-EA45-0400-EE9A-9FDA76F3642E}"/>
              </a:ext>
            </a:extLst>
          </p:cNvPr>
          <p:cNvSpPr txBox="1"/>
          <p:nvPr/>
        </p:nvSpPr>
        <p:spPr>
          <a:xfrm>
            <a:off x="2032000" y="5537200"/>
            <a:ext cx="10033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IN" sz="1200">
                <a:solidFill>
                  <a:srgbClr val="C8D2DC"/>
                </a:solidFill>
                <a:latin typeface="Consolas" panose="020B0609020204030204" pitchFamily="49" charset="0"/>
              </a:rPr>
              <a:t>uname  hostname  uptime  free  vmstat  dmesg  lscpu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3D66D7-313B-2C80-1CAC-D0E20B674BC2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67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FE8FB4-926C-1DB9-DB9B-68A3287C160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2CC2F7-DB1B-17DC-1C3E-EE8EBF39AD85}"/>
              </a:ext>
            </a:extLst>
          </p:cNvPr>
          <p:cNvSpPr/>
          <p:nvPr/>
        </p:nvSpPr>
        <p:spPr>
          <a:xfrm>
            <a:off x="4064000" y="1270000"/>
            <a:ext cx="4064000" cy="762000"/>
          </a:xfrm>
          <a:prstGeom prst="roundRect">
            <a:avLst/>
          </a:prstGeom>
          <a:solidFill>
            <a:srgbClr val="0078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IN" sz="2000" b="1">
                <a:solidFill>
                  <a:srgbClr val="FFFFFF"/>
                </a:solidFill>
                <a:latin typeface="Segoe UI" panose="020B0502040204020203" pitchFamily="34" charset="0"/>
              </a:rPr>
              <a:t>LINUX FUNDAMENTALS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7FD33-7EED-1615-3D69-2AFFF3FCAE0A}"/>
              </a:ext>
            </a:extLst>
          </p:cNvPr>
          <p:cNvSpPr txBox="1"/>
          <p:nvPr/>
        </p:nvSpPr>
        <p:spPr>
          <a:xfrm>
            <a:off x="762000" y="2540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You Are Now Ready!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E8580-C592-4267-6C6F-7B1A97AC2009}"/>
              </a:ext>
            </a:extLst>
          </p:cNvPr>
          <p:cNvSpPr txBox="1"/>
          <p:nvPr/>
        </p:nvSpPr>
        <p:spPr>
          <a:xfrm>
            <a:off x="762000" y="355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2000">
                <a:solidFill>
                  <a:srgbClr val="FF9800"/>
                </a:solidFill>
                <a:latin typeface="Segoe UI" panose="020B0502040204020203" pitchFamily="34" charset="0"/>
              </a:rPr>
              <a:t>Practice these commands daily on an EC2 instance</a:t>
            </a:r>
            <a:endParaRPr lang="en-IN" sz="2000">
              <a:solidFill>
                <a:srgbClr val="FF980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778D6-A096-0980-43D8-E4F73F3E1C5C}"/>
              </a:ext>
            </a:extLst>
          </p:cNvPr>
          <p:cNvSpPr txBox="1"/>
          <p:nvPr/>
        </p:nvSpPr>
        <p:spPr>
          <a:xfrm>
            <a:off x="762000" y="4318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IN">
                <a:solidFill>
                  <a:srgbClr val="96A0B4"/>
                </a:solidFill>
                <a:latin typeface="Segoe UI" panose="020B0502040204020203" pitchFamily="34" charset="0"/>
              </a:rPr>
              <a:t>Next Module: Shell Scripting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DF4E2F-F323-8404-A96D-D13222F52A85}"/>
              </a:ext>
            </a:extLst>
          </p:cNvPr>
          <p:cNvSpPr/>
          <p:nvPr/>
        </p:nvSpPr>
        <p:spPr>
          <a:xfrm>
            <a:off x="2540000" y="5334000"/>
            <a:ext cx="7112000" cy="508000"/>
          </a:xfrm>
          <a:prstGeom prst="roundRect">
            <a:avLst/>
          </a:prstGeom>
          <a:solidFill>
            <a:srgbClr val="2832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sz="1400">
                <a:solidFill>
                  <a:srgbClr val="B4BEC8"/>
                </a:solidFill>
                <a:latin typeface="Segoe UI" panose="020B0502040204020203" pitchFamily="34" charset="0"/>
              </a:rPr>
              <a:t>Keep Learning | Keep Building | Keep Growing</a:t>
            </a:r>
            <a:endParaRPr lang="en-IN" sz="1400">
              <a:solidFill>
                <a:srgbClr val="B4BEC8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C3369-9FD8-BD82-DB46-9478EE0880FB}"/>
              </a:ext>
            </a:extLst>
          </p:cNvPr>
          <p:cNvSpPr txBox="1"/>
          <p:nvPr/>
        </p:nvSpPr>
        <p:spPr>
          <a:xfrm>
            <a:off x="7366000" y="6540500"/>
            <a:ext cx="4699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 i="1">
                <a:solidFill>
                  <a:srgbClr val="5A6478"/>
                </a:solidFill>
                <a:latin typeface="Segoe UI" panose="020B0502040204020203" pitchFamily="34" charset="0"/>
              </a:rPr>
              <a:t>© All Rights Reserved by Elite DevOpsPro</a:t>
            </a:r>
            <a:endParaRPr lang="en-IN" sz="900" i="1">
              <a:solidFill>
                <a:srgbClr val="5A647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6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1677</Words>
  <Application>Microsoft Office PowerPoint</Application>
  <PresentationFormat>Custom</PresentationFormat>
  <Paragraphs>315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munguskar</dc:creator>
  <cp:lastModifiedBy>vishal munguskar</cp:lastModifiedBy>
  <cp:revision>1</cp:revision>
  <dcterms:created xsi:type="dcterms:W3CDTF">2026-03-06T17:36:35Z</dcterms:created>
  <dcterms:modified xsi:type="dcterms:W3CDTF">2026-03-06T17:36:35Z</dcterms:modified>
</cp:coreProperties>
</file>